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3010133e4f4a60" /><Relationship Type="http://schemas.openxmlformats.org/officeDocument/2006/relationships/extended-properties" Target="/docProps/app.xml" Id="Rbc8e91be555f4bf4" /><Relationship Type="http://schemas.openxmlformats.org/officeDocument/2006/relationships/officeDocument" Target="/ppt/presentation.xml" Id="Rb2068e96868f432a" /></Relationships>
</file>

<file path=ppt/presentation.xml><?xml version="1.0" encoding="utf-8"?>
<p:presentation xmlns:p="http://schemas.openxmlformats.org/presentationml/2006/main">
  <p:sldMasterIdLst>
    <p:sldMasterId xmlns:r="http://schemas.openxmlformats.org/officeDocument/2006/relationships" id="2147483648" r:id="Rb9c3dfd1f82a4968"/>
  </p:sldMasterIdLst>
  <p:notesMasterIdLst>
    <p:notesMasterId xmlns:r="http://schemas.openxmlformats.org/officeDocument/2006/relationships" r:id="R6e74258417364dc1"/>
  </p:notesMasterIdLst>
  <p:sldIdLst>
    <p:sldId xmlns:r="http://schemas.openxmlformats.org/officeDocument/2006/relationships" id="256" r:id="R42436d60cf9848a1"/>
    <p:sldId xmlns:r="http://schemas.openxmlformats.org/officeDocument/2006/relationships" id="257" r:id="R1b4babf024d34c74"/>
    <p:sldId xmlns:r="http://schemas.openxmlformats.org/officeDocument/2006/relationships" id="258" r:id="Rbf62bb2422e4421c"/>
    <p:sldId xmlns:r="http://schemas.openxmlformats.org/officeDocument/2006/relationships" id="259" r:id="R82af02e91bf649a6"/>
    <p:sldId xmlns:r="http://schemas.openxmlformats.org/officeDocument/2006/relationships" id="260" r:id="Rd90c2529840a481e"/>
    <p:sldId xmlns:r="http://schemas.openxmlformats.org/officeDocument/2006/relationships" id="261" r:id="R4a64770441244d4f"/>
    <p:sldId xmlns:r="http://schemas.openxmlformats.org/officeDocument/2006/relationships" id="262" r:id="Rd1355fe9f86c4abb"/>
    <p:sldId xmlns:r="http://schemas.openxmlformats.org/officeDocument/2006/relationships" id="263" r:id="R9cc366e9eda84241"/>
    <p:sldId xmlns:r="http://schemas.openxmlformats.org/officeDocument/2006/relationships" id="264" r:id="Rcf2bc812356e453a"/>
    <p:sldId xmlns:r="http://schemas.openxmlformats.org/officeDocument/2006/relationships" id="265" r:id="R5ad003e914fd4384"/>
    <p:sldId xmlns:r="http://schemas.openxmlformats.org/officeDocument/2006/relationships" id="266" r:id="Ra6bf3f41e67144df"/>
    <p:sldId xmlns:r="http://schemas.openxmlformats.org/officeDocument/2006/relationships" id="267" r:id="R0ebf0e90ea4246b9"/>
    <p:sldId xmlns:r="http://schemas.openxmlformats.org/officeDocument/2006/relationships" id="268" r:id="Rc36c55b04e154487"/>
    <p:sldId xmlns:r="http://schemas.openxmlformats.org/officeDocument/2006/relationships" id="269" r:id="Rc380822942d1452a"/>
    <p:sldId xmlns:r="http://schemas.openxmlformats.org/officeDocument/2006/relationships" id="270" r:id="Ra86415fdb8a84a27"/>
    <p:sldId xmlns:r="http://schemas.openxmlformats.org/officeDocument/2006/relationships" id="271" r:id="R45d07e19228e413b"/>
    <p:sldId xmlns:r="http://schemas.openxmlformats.org/officeDocument/2006/relationships" id="272" r:id="R1bfd1b6e18ce45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cfc5ee719a4e96" /><Relationship Type="http://schemas.openxmlformats.org/officeDocument/2006/relationships/slideMaster" Target="/ppt/slideMasters/slideMaster1.xml" Id="Rb9c3dfd1f82a4968" /><Relationship Type="http://schemas.openxmlformats.org/officeDocument/2006/relationships/notesMaster" Target="/ppt/notesMasters/notesMaster1.xml" Id="R6e74258417364dc1" /><Relationship Type="http://schemas.openxmlformats.org/officeDocument/2006/relationships/presProps" Target="/ppt/presProps.xml" Id="R0ad537e7d41044e4" /><Relationship Type="http://schemas.openxmlformats.org/officeDocument/2006/relationships/tableStyles" Target="/ppt/tableStyles.xml" Id="R60cd7e2d5fcb4043" /><Relationship Type="http://schemas.openxmlformats.org/officeDocument/2006/relationships/slide" Target="/ppt/slides/slide1.xml" Id="R42436d60cf9848a1" /><Relationship Type="http://schemas.openxmlformats.org/officeDocument/2006/relationships/slide" Target="/ppt/slides/slide2.xml" Id="R1b4babf024d34c74" /><Relationship Type="http://schemas.openxmlformats.org/officeDocument/2006/relationships/slide" Target="/ppt/slides/slide3.xml" Id="Rbf62bb2422e4421c" /><Relationship Type="http://schemas.openxmlformats.org/officeDocument/2006/relationships/slide" Target="/ppt/slides/slide4.xml" Id="R82af02e91bf649a6" /><Relationship Type="http://schemas.openxmlformats.org/officeDocument/2006/relationships/slide" Target="/ppt/slides/slide5.xml" Id="Rd90c2529840a481e" /><Relationship Type="http://schemas.openxmlformats.org/officeDocument/2006/relationships/slide" Target="/ppt/slides/slide6.xml" Id="R4a64770441244d4f" /><Relationship Type="http://schemas.openxmlformats.org/officeDocument/2006/relationships/slide" Target="/ppt/slides/slide7.xml" Id="Rd1355fe9f86c4abb" /><Relationship Type="http://schemas.openxmlformats.org/officeDocument/2006/relationships/slide" Target="/ppt/slides/slide8.xml" Id="R9cc366e9eda84241" /><Relationship Type="http://schemas.openxmlformats.org/officeDocument/2006/relationships/slide" Target="/ppt/slides/slide9.xml" Id="Rcf2bc812356e453a" /><Relationship Type="http://schemas.openxmlformats.org/officeDocument/2006/relationships/slide" Target="/ppt/slides/slide10.xml" Id="R5ad003e914fd4384" /><Relationship Type="http://schemas.openxmlformats.org/officeDocument/2006/relationships/slide" Target="/ppt/slides/slide11.xml" Id="Ra6bf3f41e67144df" /><Relationship Type="http://schemas.openxmlformats.org/officeDocument/2006/relationships/slide" Target="/ppt/slides/slide12.xml" Id="R0ebf0e90ea4246b9" /><Relationship Type="http://schemas.openxmlformats.org/officeDocument/2006/relationships/slide" Target="/ppt/slides/slide13.xml" Id="Rc36c55b04e154487" /><Relationship Type="http://schemas.openxmlformats.org/officeDocument/2006/relationships/slide" Target="/ppt/slides/slide14.xml" Id="Rc380822942d1452a" /><Relationship Type="http://schemas.openxmlformats.org/officeDocument/2006/relationships/slide" Target="/ppt/slides/slide15.xml" Id="Ra86415fdb8a84a27" /><Relationship Type="http://schemas.openxmlformats.org/officeDocument/2006/relationships/slide" Target="/ppt/slides/slide16.xml" Id="R45d07e19228e413b" /><Relationship Type="http://schemas.openxmlformats.org/officeDocument/2006/relationships/slide" Target="/ppt/slides/slide17.xml" Id="R1bfd1b6e18ce45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073c32e09e41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2878af67724b8f" /><Relationship Type="http://schemas.openxmlformats.org/officeDocument/2006/relationships/notesMaster" Target="/ppt/notesMasters/notesMaster1.xml" Id="Radf2e18782fd4a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e99fbc57094e22" /><Relationship Type="http://schemas.openxmlformats.org/officeDocument/2006/relationships/notesMaster" Target="/ppt/notesMasters/notesMaster1.xml" Id="R4911aac944234d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4d9487599a4144" /><Relationship Type="http://schemas.openxmlformats.org/officeDocument/2006/relationships/notesMaster" Target="/ppt/notesMasters/notesMaster1.xml" Id="Rbb755142aa1648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9a3d5663464684" /><Relationship Type="http://schemas.openxmlformats.org/officeDocument/2006/relationships/notesMaster" Target="/ppt/notesMasters/notesMaster1.xml" Id="Raee7fa4234514b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2e7cefd6164c58" /><Relationship Type="http://schemas.openxmlformats.org/officeDocument/2006/relationships/notesMaster" Target="/ppt/notesMasters/notesMaster1.xml" Id="Raf1ca0189ff649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b297097f024a23" /><Relationship Type="http://schemas.openxmlformats.org/officeDocument/2006/relationships/notesMaster" Target="/ppt/notesMasters/notesMaster1.xml" Id="R8417d8b700c745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85f82c5f8f4773" /><Relationship Type="http://schemas.openxmlformats.org/officeDocument/2006/relationships/notesMaster" Target="/ppt/notesMasters/notesMaster1.xml" Id="Rfb3ba3c79faa4e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eae61395bd418d" /><Relationship Type="http://schemas.openxmlformats.org/officeDocument/2006/relationships/notesMaster" Target="/ppt/notesMasters/notesMaster1.xml" Id="R4293ebe7ba5545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b0048eff5742f7" /><Relationship Type="http://schemas.openxmlformats.org/officeDocument/2006/relationships/notesMaster" Target="/ppt/notesMasters/notesMaster1.xml" Id="R902e3f6eb3684b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9e04a506ed4ea6" /><Relationship Type="http://schemas.openxmlformats.org/officeDocument/2006/relationships/notesMaster" Target="/ppt/notesMasters/notesMaster1.xml" Id="R158ca9dd132f4f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b21d9ffc214e64" /><Relationship Type="http://schemas.openxmlformats.org/officeDocument/2006/relationships/notesMaster" Target="/ppt/notesMasters/notesMaster1.xml" Id="Rf67fa177f0ff46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0b8c20e62b4996" /><Relationship Type="http://schemas.openxmlformats.org/officeDocument/2006/relationships/notesMaster" Target="/ppt/notesMasters/notesMaster1.xml" Id="Ra237f8735ca548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dad8fe89754f31" /><Relationship Type="http://schemas.openxmlformats.org/officeDocument/2006/relationships/notesMaster" Target="/ppt/notesMasters/notesMaster1.xml" Id="Ree125502550c4f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351bdc36dc46ea" /><Relationship Type="http://schemas.openxmlformats.org/officeDocument/2006/relationships/notesMaster" Target="/ppt/notesMasters/notesMaster1.xml" Id="R2f8a6d3a41864e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6d8d5ef07c4e24" /><Relationship Type="http://schemas.openxmlformats.org/officeDocument/2006/relationships/notesMaster" Target="/ppt/notesMasters/notesMaster1.xml" Id="R78d4ceab7fdf46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99d8a23412b4199" /><Relationship Type="http://schemas.openxmlformats.org/officeDocument/2006/relationships/notesMaster" Target="/ppt/notesMasters/notesMaster1.xml" Id="Rb5bc6fda1e0c43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a553a7e0294e90" /><Relationship Type="http://schemas.openxmlformats.org/officeDocument/2006/relationships/notesMaster" Target="/ppt/notesMasters/notesMaster1.xml" Id="Rc7e4790b97d84d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Repair Thread connects the details on equipment labels to the property, unit and repair history. This deck presents the hackathon build and a proposed commercial plan. The 48 hours refers to the original brief, not an independently measured development duration.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founder received Computer Vision as a hackathon theme and wanted a digital product people would pay for. The conversation moved from serial-number scanning to unit-specific equipment records and repair handoffs. This quotation is an illustrative product question, not a customer interview.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Repair Thread PRD sections 2 and 5. This is a problem hypothesis. We have not established the frequency or cost through paid customers or field research. The pilot should measure coordinator handling time and missing-detail follow-ups.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actual export of the editable Repair Thread Figma saved-equipment screen. Sample model WDF520PADM9 and serial 84261753. The Figma flow simulates saving. The web app supports local equipment records and review of OCR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getUserMedia still capture, Tesseract.js local OCR and field parsing in src/CameraCapture.jsx, LandingScanner.jsx and domain.js. Images in this flow are processed locally. Glare, small text and damaged labels can cause errors. The system does not diagnose equipment faults. The screenshot is a simulated Figma camera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from this build session: production scanner extracted WDF520PADM9 / 84261753; another uploaded label extracted ABC12345 / 98765432. User confirmed live preview in installed desktop app and installer wizard appearance. Do not infer full hardware OCR success or completed installation from those observations. The domain/cleanup test suite previously passed 10 tests. Current data is local IndexedDB, with simulated roles and no shared authentication.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PRD section 4. This is the initial ideal-customer hypothesis, not a measured segment size. The buyer controls budget; the maintenance coordinator experiences the workflow. Avoid enterprises with heavy integration requirements in the first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PRD positioning. These are intended advantages, not verified competitor gaps. Alternatives include the customer’s existing property-management system, spreadsheets and photo/message folders. No claim is made that competitors cannot support unit-level assets or 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PRD section 15 business model. Formula: $149 + max(0, units - 200) × $0.50. The buyer licenses access for the organization. Optional standard onboarding can be priced separately; custom integrations and white-label distribution should wait for repeatable demand. No paid subscriptions or MRR have been established in the provided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from proposed PRD pricing: $299 × 20% = $59.80 maximum direct cost; $299 × 100 = $29,900 MRR. Include hosting, storage, OCR/AI usage, payment fees and direct support. Local OCR avoids a per-scan cloud inference requirement for this implementation, but does not make total delivery free. Gross margin is not operating profit.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PRD pilot and go-to-market plan. Three partners is a proposed next milestone, not signed customers. The $149 pilot and any refund promise must be operationally approved before sale. PRD suggests a 25% median handling-time reduction benchmark across five eligible cases; that is a target, not demonstrated performance. Pilot fees and setup fees do not count as committed MRR. Lead generation assets: website camera demo, Figma walkthrough, sample label and coordinator discovery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this project conversation and repository. The user selected the direction and Repair Thread name. AI assisted research framing, PRD drafting, branding, React/Vite implementation, Electron packaging, troubleshooting and verification. Do not imply the research proved market demand, that the name has legal clearance, or that AI independently validated the business.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history: Higgsfield image and video generation calls were rejected by plan restrictions; no Higgsfield media was generated. The user chose a custom browser-native animation. User feedback also led to preserving the live scanner and removing prototype-style marketing labels. Figma screens are editable and linked, but simulate camera and submission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concept requested by the founder. No conversational AI assistant has been implemented. The assistant should retrieve tenant/unit/equipment information only within authorized organization boundaries, cite records, express uncertainty and distinguish suggestions from actions. Supplier catalog access and parts compatibility need verified sources. This roadmap is not a promise of autonomous diagnosis or ordering.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pilot ask rather than an invented fundraising round. An operational plan: first interview coordinators and inspect representative cases; then establish shared-access foundations; then run a bounded evaluation and review retention. Timing depends on integration and security needs. The key uncertainty is customer value and willingness to pay, not whether a sample label can be 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 existing generated synthetic test label, previously checked with real OCR. Expected model ABC12345 and serial 98765432. Open https://repair-thread.vercel.app/#camera-demo on a second device, then capture the label or upload the original PNG. Reduce glare and fill the camera frame with the label. This uses text recognition, not barcode decoding. Only the model and serial fields populate; property, unit and equipment type still require user input when creating an equipment record in the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site: https://repair-thread.vercel.app/ . Real OCR: https://repair-thread.vercel.app/#camera-demo . Figma: https://www.figma.com/proto/XIPVueJM82EDvWHDhD8oIr/Repair-Thread-Mobile?node-id=2-12&amp;starting-point-node-id=2%3A12&amp;scaling=scale-down . Source: https://github.com/AverageCC/repair-thread . Demo path: Scan equipment, Capture label, Save equipment, Report a repair, Send for review. The Figma walkthrough uses sample data and does not submit a live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07f076ae4f4f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ac34b5bcbf4b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c6126ee4d046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81ef93da834e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fd8d73c53e47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dc02a081a54a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C2F202-9CC2-41A9-BF6B-0E72079AA6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F4CEE1C-6FF4-4776-8852-1881D879E4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FE7BBD-F3EA-4468-81E9-316D87982E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1665F6-18C6-4A4A-9D4A-57D5A6C3D9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B204CA-A938-4836-88B6-EAFECCA684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2A83E1-9AD0-4F0A-9366-34F70A53F6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E5F9F2-660C-4567-B101-803BCE9BC5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FFCF1E-065D-40BA-98F9-228997804DB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6F03A9-FA45-48F6-8A20-B0D772F02A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31D49C-3C2D-42DF-AF04-B787304949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b34bb64edc4550" /><Relationship Type="http://schemas.openxmlformats.org/officeDocument/2006/relationships/slideLayout" Target="/ppt/slideLayouts/slideLayout1.xml" Id="R3e7c590087b340ca" /><Relationship Type="http://schemas.openxmlformats.org/officeDocument/2006/relationships/slideLayout" Target="/ppt/slideLayouts/slideLayout2.xml" Id="Rf6ddb409c5a24c07" /><Relationship Type="http://schemas.openxmlformats.org/officeDocument/2006/relationships/slideLayout" Target="/ppt/slideLayouts/slideLayout3.xml" Id="Ra2eaec0405ea447e" /><Relationship Type="http://schemas.openxmlformats.org/officeDocument/2006/relationships/slideLayout" Target="/ppt/slideLayouts/slideLayout4.xml" Id="Ra6ef15305cbc44d9" /><Relationship Type="http://schemas.openxmlformats.org/officeDocument/2006/relationships/slideLayout" Target="/ppt/slideLayouts/slideLayout5.xml" Id="R0733f77f5c0045ba" /><Relationship Type="http://schemas.openxmlformats.org/officeDocument/2006/relationships/slideLayout" Target="/ppt/slideLayouts/slideLayout6.xml" Id="R1ce26781b61047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7c590087b340ca"/>
    <p:sldLayoutId xmlns:r="http://schemas.openxmlformats.org/officeDocument/2006/relationships" id="2147483650" r:id="Rf6ddb409c5a24c07"/>
    <p:sldLayoutId xmlns:r="http://schemas.openxmlformats.org/officeDocument/2006/relationships" id="2147483651" r:id="Ra2eaec0405ea447e"/>
    <p:sldLayoutId xmlns:r="http://schemas.openxmlformats.org/officeDocument/2006/relationships" id="2147483652" r:id="Ra6ef15305cbc44d9"/>
    <p:sldLayoutId xmlns:r="http://schemas.openxmlformats.org/officeDocument/2006/relationships" id="2147483653" r:id="R0733f77f5c0045ba"/>
    <p:sldLayoutId xmlns:r="http://schemas.openxmlformats.org/officeDocument/2006/relationships" id="2147483654" r:id="R1ce26781b61047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ab1aab8076452c" /><Relationship Type="http://schemas.openxmlformats.org/officeDocument/2006/relationships/notesSlide" Target="/ppt/notesSlides/notesSlide1.xml" Id="Rb7de046691184d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530ea27b294b8c" /><Relationship Type="http://schemas.openxmlformats.org/officeDocument/2006/relationships/notesSlide" Target="/ppt/notesSlides/notesSlide2.xml" Id="Re9c0d71ff8044d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9097d549f044cc" /><Relationship Type="http://schemas.openxmlformats.org/officeDocument/2006/relationships/notesSlide" Target="/ppt/notesSlides/notesSlide3.xml" Id="R3123c986716c4b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fc12861e807423b" /><Relationship Type="http://schemas.openxmlformats.org/officeDocument/2006/relationships/image" Target="/ppt/media/image.png" Id="R6aab0f1f670c4fa1" /><Relationship Type="http://schemas.openxmlformats.org/officeDocument/2006/relationships/notesSlide" Target="/ppt/notesSlides/notesSlide4.xml" Id="Rd31554a5af7e47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50106afbb04a7b" /><Relationship Type="http://schemas.openxmlformats.org/officeDocument/2006/relationships/image" Target="/ppt/media/image2.png" Id="R555e7b2f76d44b66" /><Relationship Type="http://schemas.openxmlformats.org/officeDocument/2006/relationships/notesSlide" Target="/ppt/notesSlides/notesSlide5.xml" Id="R02f69831e1e342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220ce754d64917" /><Relationship Type="http://schemas.openxmlformats.org/officeDocument/2006/relationships/notesSlide" Target="/ppt/notesSlides/notesSlide6.xml" Id="Rd4b4403b031547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1724559ca334bf2" /><Relationship Type="http://schemas.openxmlformats.org/officeDocument/2006/relationships/notesSlide" Target="/ppt/notesSlides/notesSlide7.xml" Id="R59b8a69e53624c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77148d5c4846d0" /><Relationship Type="http://schemas.openxmlformats.org/officeDocument/2006/relationships/notesSlide" Target="/ppt/notesSlides/notesSlide8.xml" Id="R3ebebedf23204e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56889273bd428b" /><Relationship Type="http://schemas.openxmlformats.org/officeDocument/2006/relationships/notesSlide" Target="/ppt/notesSlides/notesSlide9.xml" Id="Rd4128a97e4c44f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1fdc6bb06849df" /><Relationship Type="http://schemas.openxmlformats.org/officeDocument/2006/relationships/notesSlide" Target="/ppt/notesSlides/notesSlide10.xml" Id="Rc97da05b6d4e4d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cbe55c925142fd" /><Relationship Type="http://schemas.openxmlformats.org/officeDocument/2006/relationships/notesSlide" Target="/ppt/notesSlides/notesSlide11.xml" Id="Ra9e1fe26e98741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0d70b215064d2b" /><Relationship Type="http://schemas.openxmlformats.org/officeDocument/2006/relationships/notesSlide" Target="/ppt/notesSlides/notesSlide12.xml" Id="R03bf323e624240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56bceaadfd14944" /><Relationship Type="http://schemas.openxmlformats.org/officeDocument/2006/relationships/notesSlide" Target="/ppt/notesSlides/notesSlide13.xml" Id="Rb69aa1c795884c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24611f4858e476d" /><Relationship Type="http://schemas.openxmlformats.org/officeDocument/2006/relationships/notesSlide" Target="/ppt/notesSlides/notesSlide14.xml" Id="Rf252df4f898d44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b2f9f6ba36e4624" /><Relationship Type="http://schemas.openxmlformats.org/officeDocument/2006/relationships/notesSlide" Target="/ppt/notesSlides/notesSlide15.xml" Id="R23b60013ea4743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6c542028a324e17" /><Relationship Type="http://schemas.openxmlformats.org/officeDocument/2006/relationships/image" Target="/ppt/media/image3.png" Id="Re952d533dca049d8" /><Relationship Type="http://schemas.openxmlformats.org/officeDocument/2006/relationships/notesSlide" Target="/ppt/notesSlides/notesSlide16.xml" Id="R2c412c44075d4d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6c7f4b80b2d4b4d" /><Relationship Type="http://schemas.openxmlformats.org/officeDocument/2006/relationships/image" Target="/ppt/media/image4.png" Id="R987a75313cb64b5b" /><Relationship Type="http://schemas.openxmlformats.org/officeDocument/2006/relationships/notesSlide" Target="/ppt/notesSlides/notesSlide17.xml" Id="R14d3e8667f964f53" /></Relationships>
</file>

<file path=ppt/slides/slide1.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745157-89CE-4E83-AFBB-7D25FA681AC7}"/>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7EF"/>
                </a:solidFill>
                <a:latin typeface="Segoe UI"/>
                <a:ea typeface="Segoe UI"/>
                <a:cs typeface="Segoe UI"/>
              </a:defRPr>
            </a:defPPr>
          </a:lstStyle>
          <a:p xmlns:a="http://schemas.openxmlformats.org/drawingml/2006/main">
            <a:pPr>
              <a:defRPr sz="1800" b="1">
                <a:solidFill>
                  <a:srgbClr val="F7F7EF"/>
                </a:solidFill>
                <a:latin typeface="Segoe UI"/>
                <a:ea typeface="Segoe UI"/>
                <a:cs typeface="Segoe UI"/>
              </a:defRPr>
            </a:pPr>
            <a:r>
              <a:rPr sz="1800" b="1">
                <a:solidFill>
                  <a:srgbClr val="F7F7EF"/>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EB35D007-F1E8-42EA-A954-1A757C28429B}"/>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D2EB8B"/>
                </a:solidFill>
                <a:latin typeface="Segoe UI"/>
                <a:ea typeface="Segoe UI"/>
                <a:cs typeface="Segoe UI"/>
              </a:defRPr>
            </a:defPPr>
          </a:lstStyle>
          <a:p xmlns:a="http://schemas.openxmlformats.org/drawingml/2006/main">
            <a:pPr>
              <a:defRPr sz="1050" b="1">
                <a:solidFill>
                  <a:srgbClr val="D2EB8B"/>
                </a:solidFill>
                <a:latin typeface="Segoe UI"/>
                <a:ea typeface="Segoe UI"/>
                <a:cs typeface="Segoe UI"/>
              </a:defRPr>
            </a:pPr>
            <a:r>
              <a:rPr sz="1050" b="1">
                <a:solidFill>
                  <a:srgbClr val="D2EB8B"/>
                </a:solidFill>
                <a:latin typeface="Segoe UI"/>
                <a:ea typeface="Segoe UI"/>
                <a:cs typeface="Segoe UI"/>
              </a:rPr>
              <a:t>PITCH &amp; BUILD STORY</a:t>
            </a:r>
          </a:p>
        </p:txBody>
      </p:sp>
      <p:sp>
        <p:nvSpPr>
          <p:cNvPr id="3" name="">
            <a:extLst xmlns:a="http://schemas.openxmlformats.org/drawingml/2006/main">
              <a:ext uri="{FF2B5EF4-FFF2-40B4-BE49-F238E27FC236}">
                <a16:creationId xmlns:a16="http://schemas.microsoft.com/office/drawing/2014/main" id="{26DC6563-B923-41C2-A391-9F56E9FF90DD}"/>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DCCBF"/>
                </a:solidFill>
                <a:latin typeface="Segoe UI"/>
                <a:ea typeface="Segoe UI"/>
                <a:cs typeface="Segoe UI"/>
              </a:defRPr>
            </a:defPPr>
          </a:lstStyle>
          <a:p xmlns:a="http://schemas.openxmlformats.org/drawingml/2006/main">
            <a:pPr>
              <a:defRPr sz="900" b="0">
                <a:solidFill>
                  <a:srgbClr val="BDCCBF"/>
                </a:solidFill>
                <a:latin typeface="Segoe UI"/>
                <a:ea typeface="Segoe UI"/>
                <a:cs typeface="Segoe UI"/>
              </a:defRPr>
            </a:pPr>
            <a:r>
              <a:rPr sz="900" b="0">
                <a:solidFill>
                  <a:srgbClr val="BDCCBF"/>
                </a:solidFill>
                <a:latin typeface="Segoe UI"/>
                <a:ea typeface="Segoe UI"/>
                <a:cs typeface="Segoe UI"/>
              </a:rPr>
              <a:t>REPAIR THREAD  /  COMPUTER VISION HACKATHON</a:t>
            </a:r>
          </a:p>
        </p:txBody>
      </p:sp>
      <p:sp>
        <p:nvSpPr>
          <p:cNvPr id="4" name="">
            <a:extLst xmlns:a="http://schemas.openxmlformats.org/drawingml/2006/main">
              <a:ext uri="{FF2B5EF4-FFF2-40B4-BE49-F238E27FC236}">
                <a16:creationId xmlns:a16="http://schemas.microsoft.com/office/drawing/2014/main" id="{8BB9F437-D91A-4C4B-94E1-671D496EDC95}"/>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DCCBF"/>
                </a:solidFill>
                <a:latin typeface="Segoe UI"/>
                <a:ea typeface="Segoe UI"/>
                <a:cs typeface="Segoe UI"/>
              </a:defRPr>
            </a:defPPr>
          </a:lstStyle>
          <a:p xmlns:a="http://schemas.openxmlformats.org/drawingml/2006/main">
            <a:pPr>
              <a:defRPr sz="900" b="0">
                <a:solidFill>
                  <a:srgbClr val="BDCCBF"/>
                </a:solidFill>
                <a:latin typeface="Segoe UI"/>
                <a:ea typeface="Segoe UI"/>
                <a:cs typeface="Segoe UI"/>
              </a:defRPr>
            </a:pPr>
            <a:r>
              <a:rPr sz="900" b="0">
                <a:solidFill>
                  <a:srgbClr val="BDCCBF"/>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5E5D1A06-7246-484D-AAC8-DBFBE9713C13}"/>
              </a:ext>
            </a:extLst>
          </p:cNvPr>
          <p:cNvSpPr>
            <a:spLocks xmlns:a="http://schemas.openxmlformats.org/drawingml/2006/main" noGrp="1"/>
          </p:cNvSpPr>
          <p:nvPr/>
        </p:nvSpPr>
        <p:spPr>
          <a:xfrm xmlns:a="http://schemas.openxmlformats.org/drawingml/2006/main">
            <a:off x="609600" y="1714500"/>
            <a:ext cx="10763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F7F7EF"/>
                </a:solidFill>
                <a:latin typeface="Segoe UI"/>
                <a:ea typeface="Segoe UI"/>
                <a:cs typeface="Segoe UI"/>
              </a:defRPr>
            </a:defPPr>
          </a:lstStyle>
          <a:p xmlns:a="http://schemas.openxmlformats.org/drawingml/2006/main">
            <a:pPr>
              <a:defRPr sz="6150" b="1">
                <a:solidFill>
                  <a:srgbClr val="F7F7EF"/>
                </a:solidFill>
                <a:latin typeface="Segoe UI"/>
                <a:ea typeface="Segoe UI"/>
                <a:cs typeface="Segoe UI"/>
              </a:defRPr>
            </a:pPr>
            <a:r>
              <a:rPr sz="6150" b="1">
                <a:solidFill>
                  <a:srgbClr val="F7F7EF"/>
                </a:solidFill>
                <a:latin typeface="Segoe UI"/>
                <a:ea typeface="Segoe UI"/>
                <a:cs typeface="Segoe UI"/>
              </a:rPr>
              <a:t>Every repair.</a:t>
            </a:r>
          </a:p>
          <a:p xmlns:a="http://schemas.openxmlformats.org/drawingml/2006/main">
            <a:pPr>
              <a:defRPr sz="6150" b="1">
                <a:solidFill>
                  <a:srgbClr val="F7F7EF"/>
                </a:solidFill>
                <a:latin typeface="Segoe UI"/>
                <a:ea typeface="Segoe UI"/>
                <a:cs typeface="Segoe UI"/>
              </a:defRPr>
            </a:pPr>
            <a:r>
              <a:rPr sz="6150" b="1">
                <a:solidFill>
                  <a:srgbClr val="F7F7EF"/>
                </a:solidFill>
                <a:latin typeface="Segoe UI"/>
                <a:ea typeface="Segoe UI"/>
                <a:cs typeface="Segoe UI"/>
              </a:rPr>
              <a:t>The whole story.</a:t>
            </a:r>
          </a:p>
        </p:txBody>
      </p:sp>
      <p:sp>
        <p:nvSpPr>
          <p:cNvPr id="6" name="">
            <a:extLst xmlns:a="http://schemas.openxmlformats.org/drawingml/2006/main">
              <a:ext uri="{FF2B5EF4-FFF2-40B4-BE49-F238E27FC236}">
                <a16:creationId xmlns:a16="http://schemas.microsoft.com/office/drawing/2014/main" id="{9C54890D-066D-4EED-BBFD-ABE773B1964B}"/>
              </a:ext>
            </a:extLst>
          </p:cNvPr>
          <p:cNvSpPr>
            <a:spLocks xmlns:a="http://schemas.openxmlformats.org/drawingml/2006/main" noGrp="1"/>
          </p:cNvSpPr>
          <p:nvPr/>
        </p:nvSpPr>
        <p:spPr>
          <a:xfrm xmlns:a="http://schemas.openxmlformats.org/drawingml/2006/main">
            <a:off x="647700" y="4124325"/>
            <a:ext cx="9810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DCE5D4"/>
                </a:solidFill>
                <a:latin typeface="Segoe UI"/>
                <a:ea typeface="Segoe UI"/>
                <a:cs typeface="Segoe UI"/>
              </a:defRPr>
            </a:defPPr>
          </a:lstStyle>
          <a:p xmlns:a="http://schemas.openxmlformats.org/drawingml/2006/main">
            <a:pPr>
              <a:defRPr sz="2400" b="0">
                <a:solidFill>
                  <a:srgbClr val="DCE5D4"/>
                </a:solidFill>
                <a:latin typeface="Segoe UI"/>
                <a:ea typeface="Segoe UI"/>
                <a:cs typeface="Segoe UI"/>
              </a:defRPr>
            </a:pPr>
            <a:r>
              <a:rPr sz="2400" b="0">
                <a:solidFill>
                  <a:srgbClr val="DCE5D4"/>
                </a:solidFill>
                <a:latin typeface="Segoe UI"/>
                <a:ea typeface="Segoe UI"/>
                <a:cs typeface="Segoe UI"/>
              </a:rPr>
              <a:t>Computer vision for equipment records</a:t>
            </a:r>
          </a:p>
          <a:p xmlns:a="http://schemas.openxmlformats.org/drawingml/2006/main">
            <a:pPr>
              <a:defRPr sz="2400" b="0">
                <a:solidFill>
                  <a:srgbClr val="DCE5D4"/>
                </a:solidFill>
                <a:latin typeface="Segoe UI"/>
                <a:ea typeface="Segoe UI"/>
                <a:cs typeface="Segoe UI"/>
              </a:defRPr>
            </a:pPr>
            <a:r>
              <a:rPr sz="2400" b="0">
                <a:solidFill>
                  <a:srgbClr val="DCE5D4"/>
                </a:solidFill>
                <a:latin typeface="Segoe UI"/>
                <a:ea typeface="Segoe UI"/>
                <a:cs typeface="Segoe UI"/>
              </a:rPr>
              <a:t>and property maintenance handoffs</a:t>
            </a:r>
          </a:p>
        </p:txBody>
      </p:sp>
      <p:sp>
        <p:nvSpPr>
          <p:cNvPr id="7" name="">
            <a:extLst xmlns:a="http://schemas.openxmlformats.org/drawingml/2006/main">
              <a:ext uri="{FF2B5EF4-FFF2-40B4-BE49-F238E27FC236}">
                <a16:creationId xmlns:a16="http://schemas.microsoft.com/office/drawing/2014/main" id="{C80C445A-E0FA-4C04-B230-DB746F5D0798}"/>
              </a:ext>
            </a:extLst>
          </p:cNvPr>
          <p:cNvSpPr>
            <a:spLocks xmlns:a="http://schemas.openxmlformats.org/drawingml/2006/main" noGrp="1"/>
          </p:cNvSpPr>
          <p:nvPr/>
        </p:nvSpPr>
        <p:spPr>
          <a:xfrm xmlns:a="http://schemas.openxmlformats.org/drawingml/2006/main">
            <a:off x="647700" y="5629275"/>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D2EB8B"/>
                </a:solidFill>
                <a:latin typeface="Segoe UI"/>
                <a:ea typeface="Segoe UI"/>
                <a:cs typeface="Segoe UI"/>
              </a:defRPr>
            </a:defPPr>
          </a:lstStyle>
          <a:p xmlns:a="http://schemas.openxmlformats.org/drawingml/2006/main">
            <a:pPr>
              <a:defRPr sz="1500" b="0">
                <a:solidFill>
                  <a:srgbClr val="D2EB8B"/>
                </a:solidFill>
                <a:latin typeface="Segoe UI"/>
                <a:ea typeface="Segoe UI"/>
                <a:cs typeface="Segoe UI"/>
              </a:defRPr>
            </a:pPr>
            <a:r>
              <a:rPr sz="1500" b="0">
                <a:solidFill>
                  <a:srgbClr val="D2EB8B"/>
                </a:solidFill>
                <a:latin typeface="Segoe UI"/>
                <a:ea typeface="Segoe UI"/>
                <a:cs typeface="Segoe UI"/>
              </a:rPr>
              <a:t>48-hour hackathon brief  /  October 2026</a:t>
            </a:r>
          </a:p>
        </p:txBody>
      </p:sp>
    </p:spTree>
    <p:extLst>
      <p:ext uri="{BB962C8B-B14F-4D97-AF65-F5344CB8AC3E}">
        <p14:creationId xmlns:p14="http://schemas.microsoft.com/office/powerpoint/2010/main" val="1361284499"/>
      </p:ext>
    </p:extLst>
  </p:cSld>
</p:sld>
</file>

<file path=ppt/slides/slide2.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07DB11-5612-44E9-8EB9-8E8411FC74BF}"/>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6CEB2A6A-80D3-44B7-871C-B68CF52EC40F}"/>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01 / INSPIRATION</a:t>
            </a:r>
          </a:p>
        </p:txBody>
      </p:sp>
      <p:sp>
        <p:nvSpPr>
          <p:cNvPr id="3" name="">
            <a:extLst xmlns:a="http://schemas.openxmlformats.org/drawingml/2006/main">
              <a:ext uri="{FF2B5EF4-FFF2-40B4-BE49-F238E27FC236}">
                <a16:creationId xmlns:a16="http://schemas.microsoft.com/office/drawing/2014/main" id="{B88B3CBD-1C6C-49D9-9FE7-DC6B296742A1}"/>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A practical use for computer vision</a:t>
            </a:r>
          </a:p>
        </p:txBody>
      </p:sp>
      <p:sp>
        <p:nvSpPr>
          <p:cNvPr id="4" name="">
            <a:extLst xmlns:a="http://schemas.openxmlformats.org/drawingml/2006/main">
              <a:ext uri="{FF2B5EF4-FFF2-40B4-BE49-F238E27FC236}">
                <a16:creationId xmlns:a16="http://schemas.microsoft.com/office/drawing/2014/main" id="{4AF361AC-61E6-4B73-B855-9F1CB0868647}"/>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A1DDA8BF-9F0A-4C6F-A0BE-4CD842F51651}"/>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02</a:t>
            </a:r>
          </a:p>
        </p:txBody>
      </p:sp>
      <p:sp>
        <p:nvSpPr>
          <p:cNvPr id="6" name="">
            <a:extLst xmlns:a="http://schemas.openxmlformats.org/drawingml/2006/main">
              <a:ext uri="{FF2B5EF4-FFF2-40B4-BE49-F238E27FC236}">
                <a16:creationId xmlns:a16="http://schemas.microsoft.com/office/drawing/2014/main" id="{F8F3A687-5C2E-4D67-BC9E-702611A1E596}"/>
              </a:ext>
            </a:extLst>
          </p:cNvPr>
          <p:cNvSpPr>
            <a:spLocks xmlns:a="http://schemas.openxmlformats.org/drawingml/2006/main" noGrp="1"/>
          </p:cNvSpPr>
          <p:nvPr/>
        </p:nvSpPr>
        <p:spPr>
          <a:xfrm xmlns:a="http://schemas.openxmlformats.org/drawingml/2006/main">
            <a:off x="609600" y="2876550"/>
            <a:ext cx="1028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173F35"/>
                </a:solidFill>
                <a:latin typeface="Georgia"/>
                <a:ea typeface="Georgia"/>
                <a:cs typeface="Georgia"/>
              </a:defRPr>
            </a:defPPr>
          </a:lstStyle>
          <a:p xmlns:a="http://schemas.openxmlformats.org/drawingml/2006/main">
            <a:pPr>
              <a:defRPr sz="3675" b="0">
                <a:solidFill>
                  <a:srgbClr val="173F35"/>
                </a:solidFill>
                <a:latin typeface="Georgia"/>
                <a:ea typeface="Georgia"/>
                <a:cs typeface="Georgia"/>
              </a:defRPr>
            </a:pPr>
            <a:r>
              <a:rPr sz="3675" b="0">
                <a:solidFill>
                  <a:srgbClr val="173F35"/>
                </a:solidFill>
                <a:latin typeface="Georgia"/>
                <a:ea typeface="Georgia"/>
                <a:cs typeface="Georgia"/>
              </a:rPr>
              <a:t>“Which dishwasher is actually</a:t>
            </a:r>
          </a:p>
          <a:p xmlns:a="http://schemas.openxmlformats.org/drawingml/2006/main">
            <a:pPr>
              <a:defRPr sz="3675" b="0">
                <a:solidFill>
                  <a:srgbClr val="173F35"/>
                </a:solidFill>
                <a:latin typeface="Georgia"/>
                <a:ea typeface="Georgia"/>
                <a:cs typeface="Georgia"/>
              </a:defRPr>
            </a:pPr>
            <a:r>
              <a:rPr sz="3675" b="0">
                <a:solidFill>
                  <a:srgbClr val="173F35"/>
                </a:solidFill>
                <a:latin typeface="Georgia"/>
                <a:ea typeface="Georgia"/>
                <a:cs typeface="Georgia"/>
              </a:rPr>
              <a:t>in Unit 304B?”</a:t>
            </a:r>
          </a:p>
        </p:txBody>
      </p:sp>
      <p:sp>
        <p:nvSpPr>
          <p:cNvPr id="7" name="">
            <a:extLst xmlns:a="http://schemas.openxmlformats.org/drawingml/2006/main">
              <a:ext uri="{FF2B5EF4-FFF2-40B4-BE49-F238E27FC236}">
                <a16:creationId xmlns:a16="http://schemas.microsoft.com/office/drawing/2014/main" id="{AC0CB0FE-079A-4BA4-B931-DE80D4C8F816}"/>
              </a:ext>
            </a:extLst>
          </p:cNvPr>
          <p:cNvSpPr>
            <a:spLocks xmlns:a="http://schemas.openxmlformats.org/drawingml/2006/main" noGrp="1"/>
          </p:cNvSpPr>
          <p:nvPr/>
        </p:nvSpPr>
        <p:spPr>
          <a:xfrm xmlns:a="http://schemas.openxmlformats.org/drawingml/2006/main">
            <a:off x="609600" y="4514850"/>
            <a:ext cx="10287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27568"/>
                </a:solidFill>
                <a:latin typeface="Segoe UI"/>
                <a:ea typeface="Segoe UI"/>
                <a:cs typeface="Segoe UI"/>
              </a:defRPr>
            </a:defPPr>
          </a:lstStyle>
          <a:p xmlns:a="http://schemas.openxmlformats.org/drawingml/2006/main">
            <a:pPr>
              <a:defRPr sz="2100" b="0">
                <a:solidFill>
                  <a:srgbClr val="627568"/>
                </a:solidFill>
                <a:latin typeface="Segoe UI"/>
                <a:ea typeface="Segoe UI"/>
                <a:cs typeface="Segoe UI"/>
              </a:defRPr>
            </a:pPr>
            <a:r>
              <a:rPr sz="2100" b="0">
                <a:solidFill>
                  <a:srgbClr val="627568"/>
                </a:solidFill>
                <a:latin typeface="Segoe UI"/>
                <a:ea typeface="Segoe UI"/>
                <a:cs typeface="Segoe UI"/>
              </a:rPr>
              <a:t>The idea began with hard-to-read serial and model labels.</a:t>
            </a:r>
          </a:p>
          <a:p xmlns:a="http://schemas.openxmlformats.org/drawingml/2006/main">
            <a:pPr>
              <a:defRPr sz="2100" b="0">
                <a:solidFill>
                  <a:srgbClr val="627568"/>
                </a:solidFill>
                <a:latin typeface="Segoe UI"/>
                <a:ea typeface="Segoe UI"/>
                <a:cs typeface="Segoe UI"/>
              </a:defRPr>
            </a:pPr>
            <a:r>
              <a:rPr sz="2100" b="0">
                <a:solidFill>
                  <a:srgbClr val="627568"/>
                </a:solidFill>
                <a:latin typeface="Segoe UI"/>
                <a:ea typeface="Segoe UI"/>
                <a:cs typeface="Segoe UI"/>
              </a:rPr>
              <a:t>The product became more useful when those details stayed</a:t>
            </a:r>
          </a:p>
          <a:p xmlns:a="http://schemas.openxmlformats.org/drawingml/2006/main">
            <a:pPr>
              <a:defRPr sz="2100" b="0">
                <a:solidFill>
                  <a:srgbClr val="627568"/>
                </a:solidFill>
                <a:latin typeface="Segoe UI"/>
                <a:ea typeface="Segoe UI"/>
                <a:cs typeface="Segoe UI"/>
              </a:defRPr>
            </a:pPr>
            <a:r>
              <a:rPr sz="2100" b="0">
                <a:solidFill>
                  <a:srgbClr val="627568"/>
                </a:solidFill>
                <a:latin typeface="Segoe UI"/>
                <a:ea typeface="Segoe UI"/>
                <a:cs typeface="Segoe UI"/>
              </a:rPr>
              <a:t>attached to a unit and its repair history.</a:t>
            </a:r>
          </a:p>
        </p:txBody>
      </p:sp>
    </p:spTree>
    <p:extLst>
      <p:ext uri="{BB962C8B-B14F-4D97-AF65-F5344CB8AC3E}">
        <p14:creationId xmlns:p14="http://schemas.microsoft.com/office/powerpoint/2010/main" val="445324332"/>
      </p:ext>
    </p:extLst>
  </p:cSld>
</p:sld>
</file>

<file path=ppt/slides/slide3.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7570D0-9E00-40A7-8781-48D885A2DA97}"/>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088C37A7-DABA-43E5-938D-CDBE06EC0B82}"/>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02 / PROBLEM</a:t>
            </a:r>
          </a:p>
        </p:txBody>
      </p:sp>
      <p:sp>
        <p:nvSpPr>
          <p:cNvPr id="3" name="">
            <a:extLst xmlns:a="http://schemas.openxmlformats.org/drawingml/2006/main">
              <a:ext uri="{FF2B5EF4-FFF2-40B4-BE49-F238E27FC236}">
                <a16:creationId xmlns:a16="http://schemas.microsoft.com/office/drawing/2014/main" id="{1C70FEDA-A1FD-4634-83EE-4FE7E820F08E}"/>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The repair starts with missing context</a:t>
            </a:r>
          </a:p>
        </p:txBody>
      </p:sp>
      <p:sp>
        <p:nvSpPr>
          <p:cNvPr id="4" name="">
            <a:extLst xmlns:a="http://schemas.openxmlformats.org/drawingml/2006/main">
              <a:ext uri="{FF2B5EF4-FFF2-40B4-BE49-F238E27FC236}">
                <a16:creationId xmlns:a16="http://schemas.microsoft.com/office/drawing/2014/main" id="{3A2C6B42-6505-4EF1-917F-F479044C21CF}"/>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18ACBACB-2619-4FA7-A04F-A5DCF81752AA}"/>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9673FF48-54F6-471F-88ED-ABB0C07BE23F}"/>
              </a:ext>
            </a:extLst>
          </p:cNvPr>
          <p:cNvSpPr>
            <a:spLocks xmlns:a="http://schemas.openxmlformats.org/drawingml/2006/main" noGrp="1"/>
          </p:cNvSpPr>
          <p:nvPr/>
        </p:nvSpPr>
        <p:spPr>
          <a:xfrm xmlns:a="http://schemas.openxmlformats.org/drawingml/2006/main">
            <a:off x="609600" y="28098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A request identifies the unit</a:t>
            </a:r>
          </a:p>
        </p:txBody>
      </p:sp>
      <p:sp>
        <p:nvSpPr>
          <p:cNvPr id="7" name="">
            <a:extLst xmlns:a="http://schemas.openxmlformats.org/drawingml/2006/main">
              <a:ext uri="{FF2B5EF4-FFF2-40B4-BE49-F238E27FC236}">
                <a16:creationId xmlns:a16="http://schemas.microsoft.com/office/drawing/2014/main" id="{1FDCE0BD-2DA5-43B0-97D8-51FF44FBC6A3}"/>
              </a:ext>
            </a:extLst>
          </p:cNvPr>
          <p:cNvSpPr>
            <a:spLocks xmlns:a="http://schemas.openxmlformats.org/drawingml/2006/main" noGrp="1"/>
          </p:cNvSpPr>
          <p:nvPr/>
        </p:nvSpPr>
        <p:spPr>
          <a:xfrm xmlns:a="http://schemas.openxmlformats.org/drawingml/2006/main">
            <a:off x="609600" y="32194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“The dishwasher is broken” still leaves the equipment unclear.</a:t>
            </a:r>
          </a:p>
        </p:txBody>
      </p:sp>
      <p:sp>
        <p:nvSpPr>
          <p:cNvPr id="8" name="">
            <a:extLst xmlns:a="http://schemas.openxmlformats.org/drawingml/2006/main">
              <a:ext uri="{FF2B5EF4-FFF2-40B4-BE49-F238E27FC236}">
                <a16:creationId xmlns:a16="http://schemas.microsoft.com/office/drawing/2014/main" id="{3508DD97-FAF1-4FB4-B4B9-A2CFC99BC7D2}"/>
              </a:ext>
            </a:extLst>
          </p:cNvPr>
          <p:cNvSpPr>
            <a:spLocks xmlns:a="http://schemas.openxmlformats.org/drawingml/2006/main" noGrp="1"/>
          </p:cNvSpPr>
          <p:nvPr/>
        </p:nvSpPr>
        <p:spPr>
          <a:xfrm xmlns:a="http://schemas.openxmlformats.org/drawingml/2006/main">
            <a:off x="609600" y="37909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Someone reconstructs the record</a:t>
            </a:r>
          </a:p>
        </p:txBody>
      </p:sp>
      <p:sp>
        <p:nvSpPr>
          <p:cNvPr id="9" name="">
            <a:extLst xmlns:a="http://schemas.openxmlformats.org/drawingml/2006/main">
              <a:ext uri="{FF2B5EF4-FFF2-40B4-BE49-F238E27FC236}">
                <a16:creationId xmlns:a16="http://schemas.microsoft.com/office/drawing/2014/main" id="{707FF9D8-4FD8-4FDF-895F-150E581D6891}"/>
              </a:ext>
            </a:extLst>
          </p:cNvPr>
          <p:cNvSpPr>
            <a:spLocks xmlns:a="http://schemas.openxmlformats.org/drawingml/2006/main" noGrp="1"/>
          </p:cNvSpPr>
          <p:nvPr/>
        </p:nvSpPr>
        <p:spPr>
          <a:xfrm xmlns:a="http://schemas.openxmlformats.org/drawingml/2006/main">
            <a:off x="609600" y="42005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Find the label photo, transcribe identifiers and collect the issue details.</a:t>
            </a:r>
          </a:p>
        </p:txBody>
      </p:sp>
      <p:sp>
        <p:nvSpPr>
          <p:cNvPr id="10" name="">
            <a:extLst xmlns:a="http://schemas.openxmlformats.org/drawingml/2006/main">
              <a:ext uri="{FF2B5EF4-FFF2-40B4-BE49-F238E27FC236}">
                <a16:creationId xmlns:a16="http://schemas.microsoft.com/office/drawing/2014/main" id="{04D00D6C-453F-49F4-B89B-F764DFC13AFB}"/>
              </a:ext>
            </a:extLst>
          </p:cNvPr>
          <p:cNvSpPr>
            <a:spLocks xmlns:a="http://schemas.openxmlformats.org/drawingml/2006/main" noGrp="1"/>
          </p:cNvSpPr>
          <p:nvPr/>
        </p:nvSpPr>
        <p:spPr>
          <a:xfrm xmlns:a="http://schemas.openxmlformats.org/drawingml/2006/main">
            <a:off x="609600" y="47720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The next handoff can lose that work</a:t>
            </a:r>
          </a:p>
        </p:txBody>
      </p:sp>
      <p:sp>
        <p:nvSpPr>
          <p:cNvPr id="11" name="">
            <a:extLst xmlns:a="http://schemas.openxmlformats.org/drawingml/2006/main">
              <a:ext uri="{FF2B5EF4-FFF2-40B4-BE49-F238E27FC236}">
                <a16:creationId xmlns:a16="http://schemas.microsoft.com/office/drawing/2014/main" id="{8A248D66-7FF8-4C81-B377-26EB0ED9660C}"/>
              </a:ext>
            </a:extLst>
          </p:cNvPr>
          <p:cNvSpPr>
            <a:spLocks xmlns:a="http://schemas.openxmlformats.org/drawingml/2006/main" noGrp="1"/>
          </p:cNvSpPr>
          <p:nvPr/>
        </p:nvSpPr>
        <p:spPr>
          <a:xfrm xmlns:a="http://schemas.openxmlformats.org/drawingml/2006/main">
            <a:off x="609600" y="51816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The quote, decision and replacement record may live in separate places.</a:t>
            </a:r>
          </a:p>
        </p:txBody>
      </p:sp>
    </p:spTree>
    <p:extLst>
      <p:ext uri="{BB962C8B-B14F-4D97-AF65-F5344CB8AC3E}">
        <p14:creationId xmlns:p14="http://schemas.microsoft.com/office/powerpoint/2010/main" val="1811201855"/>
      </p:ext>
    </p:extLst>
  </p:cSld>
</p:sld>
</file>

<file path=ppt/slides/slide4.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C9E458-523E-4244-9D56-23852A63CF78}"/>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B1D39553-10C6-485A-A687-29BB8EB931DB}"/>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03 / PRODUCT</a:t>
            </a:r>
          </a:p>
        </p:txBody>
      </p:sp>
      <p:sp>
        <p:nvSpPr>
          <p:cNvPr id="3" name="">
            <a:extLst xmlns:a="http://schemas.openxmlformats.org/drawingml/2006/main">
              <a:ext uri="{FF2B5EF4-FFF2-40B4-BE49-F238E27FC236}">
                <a16:creationId xmlns:a16="http://schemas.microsoft.com/office/drawing/2014/main" id="{53F21093-0503-458E-8D50-DC88216C35B9}"/>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A label becomes a unit record</a:t>
            </a:r>
          </a:p>
        </p:txBody>
      </p:sp>
      <p:sp>
        <p:nvSpPr>
          <p:cNvPr id="4" name="">
            <a:extLst xmlns:a="http://schemas.openxmlformats.org/drawingml/2006/main">
              <a:ext uri="{FF2B5EF4-FFF2-40B4-BE49-F238E27FC236}">
                <a16:creationId xmlns:a16="http://schemas.microsoft.com/office/drawing/2014/main" id="{EF788FCE-6CCC-40CF-854A-7A8493DB748C}"/>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57F501D7-8028-4C54-9BB5-5A2433B16564}"/>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04</a:t>
            </a:r>
          </a:p>
        </p:txBody>
      </p:sp>
      <p:sp>
        <p:nvSpPr>
          <p:cNvPr id="6" name="">
            <a:extLst xmlns:a="http://schemas.openxmlformats.org/drawingml/2006/main">
              <a:ext uri="{FF2B5EF4-FFF2-40B4-BE49-F238E27FC236}">
                <a16:creationId xmlns:a16="http://schemas.microsoft.com/office/drawing/2014/main" id="{E82B6A88-CB56-4D68-8FB5-BBEE60AAF01E}"/>
              </a:ext>
            </a:extLst>
          </p:cNvPr>
          <p:cNvSpPr>
            <a:spLocks xmlns:a="http://schemas.openxmlformats.org/drawingml/2006/main" noGrp="1"/>
          </p:cNvSpPr>
          <p:nvPr/>
        </p:nvSpPr>
        <p:spPr>
          <a:xfrm xmlns:a="http://schemas.openxmlformats.org/drawingml/2006/main">
            <a:off x="609600" y="2886075"/>
            <a:ext cx="704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F35"/>
                </a:solidFill>
                <a:latin typeface="Segoe UI"/>
                <a:ea typeface="Segoe UI"/>
                <a:cs typeface="Segoe UI"/>
              </a:defRPr>
            </a:defPPr>
          </a:lstStyle>
          <a:p xmlns:a="http://schemas.openxmlformats.org/drawingml/2006/main">
            <a:pPr>
              <a:defRPr sz="2925" b="1">
                <a:solidFill>
                  <a:srgbClr val="173F35"/>
                </a:solidFill>
                <a:latin typeface="Segoe UI"/>
                <a:ea typeface="Segoe UI"/>
                <a:cs typeface="Segoe UI"/>
              </a:defRPr>
            </a:pPr>
            <a:r>
              <a:rPr sz="2925" b="1">
                <a:solidFill>
                  <a:srgbClr val="173F35"/>
                </a:solidFill>
                <a:latin typeface="Segoe UI"/>
                <a:ea typeface="Segoe UI"/>
                <a:cs typeface="Segoe UI"/>
              </a:rPr>
              <a:t>Capture the identifiers.</a:t>
            </a:r>
          </a:p>
          <a:p xmlns:a="http://schemas.openxmlformats.org/drawingml/2006/main">
            <a:pPr>
              <a:defRPr sz="2925" b="1">
                <a:solidFill>
                  <a:srgbClr val="173F35"/>
                </a:solidFill>
                <a:latin typeface="Segoe UI"/>
                <a:ea typeface="Segoe UI"/>
                <a:cs typeface="Segoe UI"/>
              </a:defRPr>
            </a:pPr>
            <a:r>
              <a:rPr sz="2925" b="1">
                <a:solidFill>
                  <a:srgbClr val="173F35"/>
                </a:solidFill>
                <a:latin typeface="Segoe UI"/>
                <a:ea typeface="Segoe UI"/>
                <a:cs typeface="Segoe UI"/>
              </a:rPr>
              <a:t>Review the result.</a:t>
            </a:r>
          </a:p>
          <a:p xmlns:a="http://schemas.openxmlformats.org/drawingml/2006/main">
            <a:pPr>
              <a:defRPr sz="2925" b="1">
                <a:solidFill>
                  <a:srgbClr val="173F35"/>
                </a:solidFill>
                <a:latin typeface="Segoe UI"/>
                <a:ea typeface="Segoe UI"/>
                <a:cs typeface="Segoe UI"/>
              </a:defRPr>
            </a:pPr>
            <a:r>
              <a:rPr sz="2925" b="1">
                <a:solidFill>
                  <a:srgbClr val="173F35"/>
                </a:solidFill>
                <a:latin typeface="Segoe UI"/>
                <a:ea typeface="Segoe UI"/>
                <a:cs typeface="Segoe UI"/>
              </a:rPr>
              <a:t>Save it to the right unit.</a:t>
            </a:r>
          </a:p>
        </p:txBody>
      </p:sp>
      <p:sp>
        <p:nvSpPr>
          <p:cNvPr id="7" name="">
            <a:extLst xmlns:a="http://schemas.openxmlformats.org/drawingml/2006/main">
              <a:ext uri="{FF2B5EF4-FFF2-40B4-BE49-F238E27FC236}">
                <a16:creationId xmlns:a16="http://schemas.microsoft.com/office/drawing/2014/main" id="{FB5EC174-A2DC-4E17-9618-6AFBDECE4501}"/>
              </a:ext>
            </a:extLst>
          </p:cNvPr>
          <p:cNvSpPr>
            <a:spLocks xmlns:a="http://schemas.openxmlformats.org/drawingml/2006/main" noGrp="1"/>
          </p:cNvSpPr>
          <p:nvPr/>
        </p:nvSpPr>
        <p:spPr>
          <a:xfrm xmlns:a="http://schemas.openxmlformats.org/drawingml/2006/main">
            <a:off x="609600" y="4933950"/>
            <a:ext cx="657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27568"/>
                </a:solidFill>
                <a:latin typeface="Segoe UI"/>
                <a:ea typeface="Segoe UI"/>
                <a:cs typeface="Segoe UI"/>
              </a:defRPr>
            </a:defPPr>
          </a:lstStyle>
          <a:p xmlns:a="http://schemas.openxmlformats.org/drawingml/2006/main">
            <a:pPr>
              <a:defRPr sz="2100" b="0">
                <a:solidFill>
                  <a:srgbClr val="627568"/>
                </a:solidFill>
                <a:latin typeface="Segoe UI"/>
                <a:ea typeface="Segoe UI"/>
                <a:cs typeface="Segoe UI"/>
              </a:defRPr>
            </a:pPr>
            <a:r>
              <a:rPr sz="2100" b="0">
                <a:solidFill>
                  <a:srgbClr val="627568"/>
                </a:solidFill>
                <a:latin typeface="Segoe UI"/>
                <a:ea typeface="Segoe UI"/>
                <a:cs typeface="Segoe UI"/>
              </a:rPr>
              <a:t>Carry that record into the repair request</a:t>
            </a:r>
          </a:p>
          <a:p xmlns:a="http://schemas.openxmlformats.org/drawingml/2006/main">
            <a:pPr>
              <a:defRPr sz="2100" b="0">
                <a:solidFill>
                  <a:srgbClr val="627568"/>
                </a:solidFill>
                <a:latin typeface="Segoe UI"/>
                <a:ea typeface="Segoe UI"/>
                <a:cs typeface="Segoe UI"/>
              </a:defRPr>
            </a:pPr>
            <a:r>
              <a:rPr sz="2100" b="0">
                <a:solidFill>
                  <a:srgbClr val="627568"/>
                </a:solidFill>
                <a:latin typeface="Segoe UI"/>
                <a:ea typeface="Segoe UI"/>
                <a:cs typeface="Segoe UI"/>
              </a:rPr>
              <a:t>and preserve it when equipment changes.</a:t>
            </a:r>
          </a:p>
        </p:txBody>
      </p:sp>
      <p:pic>
        <p:nvPicPr>
          <p:cNvPr id="8" name="">
            <a:extLst xmlns:a="http://schemas.openxmlformats.org/drawingml/2006/main">
              <a:ext uri="{FF2B5EF4-FFF2-40B4-BE49-F238E27FC236}">
                <a16:creationId xmlns:a16="http://schemas.microsoft.com/office/drawing/2014/main" id="{17EE1621-1F69-4DA1-A31C-C5AAFB83437C}"/>
              </a:ext>
            </a:extLst>
          </p:cNvPr>
          <p:cNvPicPr>
            <a:picLocks xmlns:a="http://schemas.openxmlformats.org/drawingml/2006/main" noChangeAspect="1"/>
          </p:cNvPicPr>
          <p:nvPr/>
        </p:nvPicPr>
        <p:blipFill>
          <a:blip xmlns:r="http://schemas.openxmlformats.org/officeDocument/2006/relationships" xmlns:a="http://schemas.openxmlformats.org/drawingml/2006/main" r:embed="R6aab0f1f670c4fa1"/>
          <a:stretch xmlns:a="http://schemas.openxmlformats.org/drawingml/2006/main"/>
        </p:blipFill>
        <p:spPr>
          <a:xfrm xmlns:a="http://schemas.openxmlformats.org/drawingml/2006/main">
            <a:off x="8505825" y="1058716"/>
            <a:ext cx="2362200" cy="5112043"/>
          </a:xfrm>
          <a:prstGeom xmlns:a="http://schemas.openxmlformats.org/drawingml/2006/main" prst="rect">
            <a:avLst/>
          </a:prstGeom>
        </p:spPr>
      </p:pic>
    </p:spTree>
    <p:extLst>
      <p:ext uri="{BB962C8B-B14F-4D97-AF65-F5344CB8AC3E}">
        <p14:creationId xmlns:p14="http://schemas.microsoft.com/office/powerpoint/2010/main" val="2020975633"/>
      </p:ext>
    </p:extLst>
  </p:cSld>
</p:sld>
</file>

<file path=ppt/slides/slide5.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39D2B5-1D1F-4E02-9E53-4F83616DDB17}"/>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A4D33CCA-92CD-42C6-8EF2-60A9609F9D72}"/>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04 / COMPUTER VISION</a:t>
            </a:r>
          </a:p>
        </p:txBody>
      </p:sp>
      <p:sp>
        <p:nvSpPr>
          <p:cNvPr id="3" name="">
            <a:extLst xmlns:a="http://schemas.openxmlformats.org/drawingml/2006/main">
              <a:ext uri="{FF2B5EF4-FFF2-40B4-BE49-F238E27FC236}">
                <a16:creationId xmlns:a16="http://schemas.microsoft.com/office/drawing/2014/main" id="{1FC97166-721D-42E4-922B-A17482B2935F}"/>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A camera already in your pocket</a:t>
            </a:r>
          </a:p>
        </p:txBody>
      </p:sp>
      <p:sp>
        <p:nvSpPr>
          <p:cNvPr id="4" name="">
            <a:extLst xmlns:a="http://schemas.openxmlformats.org/drawingml/2006/main">
              <a:ext uri="{FF2B5EF4-FFF2-40B4-BE49-F238E27FC236}">
                <a16:creationId xmlns:a16="http://schemas.microsoft.com/office/drawing/2014/main" id="{9E5205D7-E40F-410C-B9E7-D9F8B554015A}"/>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EBAAAD4C-37FF-4F50-A383-10CA9345233B}"/>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05</a:t>
            </a:r>
          </a:p>
        </p:txBody>
      </p:sp>
      <p:sp>
        <p:nvSpPr>
          <p:cNvPr id="6" name="">
            <a:extLst xmlns:a="http://schemas.openxmlformats.org/drawingml/2006/main">
              <a:ext uri="{FF2B5EF4-FFF2-40B4-BE49-F238E27FC236}">
                <a16:creationId xmlns:a16="http://schemas.microsoft.com/office/drawing/2014/main" id="{C6F87E93-4F0A-4C82-BA6E-DD2A138130ED}"/>
              </a:ext>
            </a:extLst>
          </p:cNvPr>
          <p:cNvSpPr>
            <a:spLocks xmlns:a="http://schemas.openxmlformats.org/drawingml/2006/main" noGrp="1"/>
          </p:cNvSpPr>
          <p:nvPr/>
        </p:nvSpPr>
        <p:spPr>
          <a:xfrm xmlns:a="http://schemas.openxmlformats.org/drawingml/2006/main">
            <a:off x="609600" y="27146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Capture</a:t>
            </a:r>
          </a:p>
        </p:txBody>
      </p:sp>
      <p:sp>
        <p:nvSpPr>
          <p:cNvPr id="7" name="">
            <a:extLst xmlns:a="http://schemas.openxmlformats.org/drawingml/2006/main">
              <a:ext uri="{FF2B5EF4-FFF2-40B4-BE49-F238E27FC236}">
                <a16:creationId xmlns:a16="http://schemas.microsoft.com/office/drawing/2014/main" id="{64759D96-825E-4ECE-929F-F0FE474F6151}"/>
              </a:ext>
            </a:extLst>
          </p:cNvPr>
          <p:cNvSpPr>
            <a:spLocks xmlns:a="http://schemas.openxmlformats.org/drawingml/2006/main" noGrp="1"/>
          </p:cNvSpPr>
          <p:nvPr/>
        </p:nvSpPr>
        <p:spPr>
          <a:xfrm xmlns:a="http://schemas.openxmlformats.org/drawingml/2006/main">
            <a:off x="609600" y="312420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Photograph the equipment’s model and serial label.</a:t>
            </a:r>
          </a:p>
        </p:txBody>
      </p:sp>
      <p:sp>
        <p:nvSpPr>
          <p:cNvPr id="8" name="">
            <a:extLst xmlns:a="http://schemas.openxmlformats.org/drawingml/2006/main">
              <a:ext uri="{FF2B5EF4-FFF2-40B4-BE49-F238E27FC236}">
                <a16:creationId xmlns:a16="http://schemas.microsoft.com/office/drawing/2014/main" id="{6918FE29-5C76-4645-8897-E9982B6E2A0E}"/>
              </a:ext>
            </a:extLst>
          </p:cNvPr>
          <p:cNvSpPr>
            <a:spLocks xmlns:a="http://schemas.openxmlformats.org/drawingml/2006/main" noGrp="1"/>
          </p:cNvSpPr>
          <p:nvPr/>
        </p:nvSpPr>
        <p:spPr>
          <a:xfrm xmlns:a="http://schemas.openxmlformats.org/drawingml/2006/main">
            <a:off x="609600" y="376237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Extract</a:t>
            </a:r>
          </a:p>
        </p:txBody>
      </p:sp>
      <p:sp>
        <p:nvSpPr>
          <p:cNvPr id="9" name="">
            <a:extLst xmlns:a="http://schemas.openxmlformats.org/drawingml/2006/main">
              <a:ext uri="{FF2B5EF4-FFF2-40B4-BE49-F238E27FC236}">
                <a16:creationId xmlns:a16="http://schemas.microsoft.com/office/drawing/2014/main" id="{D3692D5B-B5CD-48C1-B118-0B3A6A2A32D6}"/>
              </a:ext>
            </a:extLst>
          </p:cNvPr>
          <p:cNvSpPr>
            <a:spLocks xmlns:a="http://schemas.openxmlformats.org/drawingml/2006/main" noGrp="1"/>
          </p:cNvSpPr>
          <p:nvPr/>
        </p:nvSpPr>
        <p:spPr>
          <a:xfrm xmlns:a="http://schemas.openxmlformats.org/drawingml/2006/main">
            <a:off x="609600" y="41719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Local OCR reads text and suggests identifier fields.</a:t>
            </a:r>
          </a:p>
        </p:txBody>
      </p:sp>
      <p:sp>
        <p:nvSpPr>
          <p:cNvPr id="10" name="">
            <a:extLst xmlns:a="http://schemas.openxmlformats.org/drawingml/2006/main">
              <a:ext uri="{FF2B5EF4-FFF2-40B4-BE49-F238E27FC236}">
                <a16:creationId xmlns:a16="http://schemas.microsoft.com/office/drawing/2014/main" id="{2D0E26D0-0830-4C4B-96B7-FDE4E13AF5ED}"/>
              </a:ext>
            </a:extLst>
          </p:cNvPr>
          <p:cNvSpPr>
            <a:spLocks xmlns:a="http://schemas.openxmlformats.org/drawingml/2006/main" noGrp="1"/>
          </p:cNvSpPr>
          <p:nvPr/>
        </p:nvSpPr>
        <p:spPr>
          <a:xfrm xmlns:a="http://schemas.openxmlformats.org/drawingml/2006/main">
            <a:off x="609600" y="4810125"/>
            <a:ext cx="676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Review</a:t>
            </a:r>
          </a:p>
        </p:txBody>
      </p:sp>
      <p:sp>
        <p:nvSpPr>
          <p:cNvPr id="11" name="">
            <a:extLst xmlns:a="http://schemas.openxmlformats.org/drawingml/2006/main">
              <a:ext uri="{FF2B5EF4-FFF2-40B4-BE49-F238E27FC236}">
                <a16:creationId xmlns:a16="http://schemas.microsoft.com/office/drawing/2014/main" id="{50FFE2D1-BDC9-40D3-BF85-BA79FD1DB29A}"/>
              </a:ext>
            </a:extLst>
          </p:cNvPr>
          <p:cNvSpPr>
            <a:spLocks xmlns:a="http://schemas.openxmlformats.org/drawingml/2006/main" noGrp="1"/>
          </p:cNvSpPr>
          <p:nvPr/>
        </p:nvSpPr>
        <p:spPr>
          <a:xfrm xmlns:a="http://schemas.openxmlformats.org/drawingml/2006/main">
            <a:off x="609600" y="521970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Compare the result with the source before saving.</a:t>
            </a:r>
          </a:p>
        </p:txBody>
      </p:sp>
      <p:pic>
        <p:nvPicPr>
          <p:cNvPr id="12" name="">
            <a:extLst xmlns:a="http://schemas.openxmlformats.org/drawingml/2006/main">
              <a:ext uri="{FF2B5EF4-FFF2-40B4-BE49-F238E27FC236}">
                <a16:creationId xmlns:a16="http://schemas.microsoft.com/office/drawing/2014/main" id="{3B2B89A5-F4BA-4CC0-B90A-73068BF6F4B6}"/>
              </a:ext>
            </a:extLst>
          </p:cNvPr>
          <p:cNvPicPr>
            <a:picLocks xmlns:a="http://schemas.openxmlformats.org/drawingml/2006/main" noChangeAspect="1"/>
          </p:cNvPicPr>
          <p:nvPr/>
        </p:nvPicPr>
        <p:blipFill>
          <a:blip xmlns:r="http://schemas.openxmlformats.org/officeDocument/2006/relationships" xmlns:a="http://schemas.openxmlformats.org/drawingml/2006/main" r:embed="R555e7b2f76d44b66"/>
          <a:stretch xmlns:a="http://schemas.openxmlformats.org/drawingml/2006/main"/>
        </p:blipFill>
        <p:spPr>
          <a:xfrm xmlns:a="http://schemas.openxmlformats.org/drawingml/2006/main">
            <a:off x="8505825" y="1058716"/>
            <a:ext cx="2362200" cy="5112043"/>
          </a:xfrm>
          <a:prstGeom xmlns:a="http://schemas.openxmlformats.org/drawingml/2006/main" prst="rect">
            <a:avLst/>
          </a:prstGeom>
        </p:spPr>
      </p:pic>
    </p:spTree>
    <p:extLst>
      <p:ext uri="{BB962C8B-B14F-4D97-AF65-F5344CB8AC3E}">
        <p14:creationId xmlns:p14="http://schemas.microsoft.com/office/powerpoint/2010/main" val="1797198320"/>
      </p:ext>
    </p:extLst>
  </p:cSld>
</p:sld>
</file>

<file path=ppt/slides/slide6.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AFD2C0-5BA6-47C5-99AC-A7AE6B86744A}"/>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52681CD7-E3FC-4DF1-9A24-63879F3561E0}"/>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05 / WORKING PRODUCT</a:t>
            </a:r>
          </a:p>
        </p:txBody>
      </p:sp>
      <p:sp>
        <p:nvSpPr>
          <p:cNvPr id="3" name="">
            <a:extLst xmlns:a="http://schemas.openxmlformats.org/drawingml/2006/main">
              <a:ext uri="{FF2B5EF4-FFF2-40B4-BE49-F238E27FC236}">
                <a16:creationId xmlns:a16="http://schemas.microsoft.com/office/drawing/2014/main" id="{4898DE1B-C890-43EA-9965-814B19E1E1D9}"/>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A working path through the core workflow</a:t>
            </a:r>
          </a:p>
        </p:txBody>
      </p:sp>
      <p:sp>
        <p:nvSpPr>
          <p:cNvPr id="4" name="">
            <a:extLst xmlns:a="http://schemas.openxmlformats.org/drawingml/2006/main">
              <a:ext uri="{FF2B5EF4-FFF2-40B4-BE49-F238E27FC236}">
                <a16:creationId xmlns:a16="http://schemas.microsoft.com/office/drawing/2014/main" id="{512F64C7-5758-45B6-9508-CB6D316609F3}"/>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7AD12A33-D29C-451F-99FD-DDC3563FAFEC}"/>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06</a:t>
            </a:r>
          </a:p>
        </p:txBody>
      </p:sp>
      <p:sp>
        <p:nvSpPr>
          <p:cNvPr id="6" name="">
            <a:extLst xmlns:a="http://schemas.openxmlformats.org/drawingml/2006/main">
              <a:ext uri="{FF2B5EF4-FFF2-40B4-BE49-F238E27FC236}">
                <a16:creationId xmlns:a16="http://schemas.microsoft.com/office/drawing/2014/main" id="{EA1A7113-C0B1-4449-A3DE-4AE20E543B02}"/>
              </a:ext>
            </a:extLst>
          </p:cNvPr>
          <p:cNvSpPr>
            <a:spLocks xmlns:a="http://schemas.openxmlformats.org/drawingml/2006/main" noGrp="1"/>
          </p:cNvSpPr>
          <p:nvPr/>
        </p:nvSpPr>
        <p:spPr>
          <a:xfrm xmlns:a="http://schemas.openxmlformats.org/drawingml/2006/main">
            <a:off x="609600" y="28098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Web and Windows</a:t>
            </a:r>
          </a:p>
        </p:txBody>
      </p:sp>
      <p:sp>
        <p:nvSpPr>
          <p:cNvPr id="7" name="">
            <a:extLst xmlns:a="http://schemas.openxmlformats.org/drawingml/2006/main">
              <a:ext uri="{FF2B5EF4-FFF2-40B4-BE49-F238E27FC236}">
                <a16:creationId xmlns:a16="http://schemas.microsoft.com/office/drawing/2014/main" id="{C38A5320-FB85-4530-8E55-523B48BFE8AD}"/>
              </a:ext>
            </a:extLst>
          </p:cNvPr>
          <p:cNvSpPr>
            <a:spLocks xmlns:a="http://schemas.openxmlformats.org/drawingml/2006/main" noGrp="1"/>
          </p:cNvSpPr>
          <p:nvPr/>
        </p:nvSpPr>
        <p:spPr>
          <a:xfrm xmlns:a="http://schemas.openxmlformats.org/drawingml/2006/main">
            <a:off x="609600" y="32194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Live camera preview, still capture, local OCR and equipment records.</a:t>
            </a:r>
          </a:p>
        </p:txBody>
      </p:sp>
      <p:sp>
        <p:nvSpPr>
          <p:cNvPr id="8" name="">
            <a:extLst xmlns:a="http://schemas.openxmlformats.org/drawingml/2006/main">
              <a:ext uri="{FF2B5EF4-FFF2-40B4-BE49-F238E27FC236}">
                <a16:creationId xmlns:a16="http://schemas.microsoft.com/office/drawing/2014/main" id="{1203CA89-AF4A-4579-A2F3-27BDFF153831}"/>
              </a:ext>
            </a:extLst>
          </p:cNvPr>
          <p:cNvSpPr>
            <a:spLocks xmlns:a="http://schemas.openxmlformats.org/drawingml/2006/main" noGrp="1"/>
          </p:cNvSpPr>
          <p:nvPr/>
        </p:nvSpPr>
        <p:spPr>
          <a:xfrm xmlns:a="http://schemas.openxmlformats.org/drawingml/2006/main">
            <a:off x="609600" y="37909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Connected repair records</a:t>
            </a:r>
          </a:p>
        </p:txBody>
      </p:sp>
      <p:sp>
        <p:nvSpPr>
          <p:cNvPr id="9" name="">
            <a:extLst xmlns:a="http://schemas.openxmlformats.org/drawingml/2006/main">
              <a:ext uri="{FF2B5EF4-FFF2-40B4-BE49-F238E27FC236}">
                <a16:creationId xmlns:a16="http://schemas.microsoft.com/office/drawing/2014/main" id="{2907B83A-B992-451E-B597-EEE642FD3A1B}"/>
              </a:ext>
            </a:extLst>
          </p:cNvPr>
          <p:cNvSpPr>
            <a:spLocks xmlns:a="http://schemas.openxmlformats.org/drawingml/2006/main" noGrp="1"/>
          </p:cNvSpPr>
          <p:nvPr/>
        </p:nvSpPr>
        <p:spPr>
          <a:xfrm xmlns:a="http://schemas.openxmlformats.org/drawingml/2006/main">
            <a:off x="609600" y="42005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Requests, proposal versions, recorded decisions and replacement history.</a:t>
            </a:r>
          </a:p>
        </p:txBody>
      </p:sp>
      <p:sp>
        <p:nvSpPr>
          <p:cNvPr id="10" name="">
            <a:extLst xmlns:a="http://schemas.openxmlformats.org/drawingml/2006/main">
              <a:ext uri="{FF2B5EF4-FFF2-40B4-BE49-F238E27FC236}">
                <a16:creationId xmlns:a16="http://schemas.microsoft.com/office/drawing/2014/main" id="{AD79D33C-4CC5-48A2-AA72-D77E0126FEA3}"/>
              </a:ext>
            </a:extLst>
          </p:cNvPr>
          <p:cNvSpPr>
            <a:spLocks xmlns:a="http://schemas.openxmlformats.org/drawingml/2006/main" noGrp="1"/>
          </p:cNvSpPr>
          <p:nvPr/>
        </p:nvSpPr>
        <p:spPr>
          <a:xfrm xmlns:a="http://schemas.openxmlformats.org/drawingml/2006/main">
            <a:off x="609600" y="47720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Evidence today</a:t>
            </a:r>
          </a:p>
        </p:txBody>
      </p:sp>
      <p:sp>
        <p:nvSpPr>
          <p:cNvPr id="11" name="">
            <a:extLst xmlns:a="http://schemas.openxmlformats.org/drawingml/2006/main">
              <a:ext uri="{FF2B5EF4-FFF2-40B4-BE49-F238E27FC236}">
                <a16:creationId xmlns:a16="http://schemas.microsoft.com/office/drawing/2014/main" id="{02A924D0-2EF3-4D51-BACC-A720CFDC0F3F}"/>
              </a:ext>
            </a:extLst>
          </p:cNvPr>
          <p:cNvSpPr>
            <a:spLocks xmlns:a="http://schemas.openxmlformats.org/drawingml/2006/main" noGrp="1"/>
          </p:cNvSpPr>
          <p:nvPr/>
        </p:nvSpPr>
        <p:spPr>
          <a:xfrm xmlns:a="http://schemas.openxmlformats.org/drawingml/2006/main">
            <a:off x="609600" y="51816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Sample OCR returned the expected model and serial. The user confirmed webcam preview.</a:t>
            </a:r>
          </a:p>
        </p:txBody>
      </p:sp>
      <p:sp>
        <p:nvSpPr>
          <p:cNvPr id="12" name="">
            <a:extLst xmlns:a="http://schemas.openxmlformats.org/drawingml/2006/main">
              <a:ext uri="{FF2B5EF4-FFF2-40B4-BE49-F238E27FC236}">
                <a16:creationId xmlns:a16="http://schemas.microsoft.com/office/drawing/2014/main" id="{C6EA9F91-C628-450F-9918-96559C81180D}"/>
              </a:ext>
            </a:extLst>
          </p:cNvPr>
          <p:cNvSpPr>
            <a:spLocks xmlns:a="http://schemas.openxmlformats.org/drawingml/2006/main" noGrp="1"/>
          </p:cNvSpPr>
          <p:nvPr/>
        </p:nvSpPr>
        <p:spPr>
          <a:xfrm xmlns:a="http://schemas.openxmlformats.org/drawingml/2006/main">
            <a:off x="609600" y="5905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568"/>
                </a:solidFill>
                <a:latin typeface="Segoe UI"/>
                <a:ea typeface="Segoe UI"/>
                <a:cs typeface="Segoe UI"/>
              </a:defRPr>
            </a:defPPr>
          </a:lstStyle>
          <a:p xmlns:a="http://schemas.openxmlformats.org/drawingml/2006/main">
            <a:pPr>
              <a:defRPr sz="1350" b="0">
                <a:solidFill>
                  <a:srgbClr val="627568"/>
                </a:solidFill>
                <a:latin typeface="Segoe UI"/>
                <a:ea typeface="Segoe UI"/>
                <a:cs typeface="Segoe UI"/>
              </a:defRPr>
            </a:pPr>
            <a:r>
              <a:rPr sz="1350" b="0">
                <a:solidFill>
                  <a:srgbClr val="627568"/>
                </a:solidFill>
                <a:latin typeface="Segoe UI"/>
                <a:ea typeface="Segoe UI"/>
                <a:cs typeface="Segoe UI"/>
              </a:rPr>
              <a:t>Shared accounts, live purchasing and production approval roles are future work.</a:t>
            </a:r>
          </a:p>
        </p:txBody>
      </p:sp>
    </p:spTree>
    <p:extLst>
      <p:ext uri="{BB962C8B-B14F-4D97-AF65-F5344CB8AC3E}">
        <p14:creationId xmlns:p14="http://schemas.microsoft.com/office/powerpoint/2010/main" val="1875579384"/>
      </p:ext>
    </p:extLst>
  </p:cSld>
</p:sld>
</file>

<file path=ppt/slides/slide7.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0255EE-4F40-45BC-AD0C-2A6C08DCB643}"/>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19C22FEC-2DAF-4928-89BB-704CFB6524F2}"/>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06 / CUSTOMER</a:t>
            </a:r>
          </a:p>
        </p:txBody>
      </p:sp>
      <p:sp>
        <p:nvSpPr>
          <p:cNvPr id="3" name="">
            <a:extLst xmlns:a="http://schemas.openxmlformats.org/drawingml/2006/main">
              <a:ext uri="{FF2B5EF4-FFF2-40B4-BE49-F238E27FC236}">
                <a16:creationId xmlns:a16="http://schemas.microsoft.com/office/drawing/2014/main" id="{5D875EC2-1F22-4AFC-A6F6-643FE420FE7C}"/>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The maintenance coordinator is the champion</a:t>
            </a:r>
          </a:p>
        </p:txBody>
      </p:sp>
      <p:sp>
        <p:nvSpPr>
          <p:cNvPr id="4" name="">
            <a:extLst xmlns:a="http://schemas.openxmlformats.org/drawingml/2006/main">
              <a:ext uri="{FF2B5EF4-FFF2-40B4-BE49-F238E27FC236}">
                <a16:creationId xmlns:a16="http://schemas.microsoft.com/office/drawing/2014/main" id="{D29A5008-40F4-4E87-ABE5-16BA3C219AE2}"/>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74710D3B-C7B0-4F23-B17D-4B1B56998FAF}"/>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07</a:t>
            </a:r>
          </a:p>
        </p:txBody>
      </p:sp>
      <p:sp>
        <p:nvSpPr>
          <p:cNvPr id="6" name="">
            <a:extLst xmlns:a="http://schemas.openxmlformats.org/drawingml/2006/main">
              <a:ext uri="{FF2B5EF4-FFF2-40B4-BE49-F238E27FC236}">
                <a16:creationId xmlns:a16="http://schemas.microsoft.com/office/drawing/2014/main" id="{28D89605-EFD2-4E46-99DB-69EC95255877}"/>
              </a:ext>
            </a:extLst>
          </p:cNvPr>
          <p:cNvSpPr>
            <a:spLocks xmlns:a="http://schemas.openxmlformats.org/drawingml/2006/main" noGrp="1"/>
          </p:cNvSpPr>
          <p:nvPr/>
        </p:nvSpPr>
        <p:spPr>
          <a:xfrm xmlns:a="http://schemas.openxmlformats.org/drawingml/2006/main">
            <a:off x="609600" y="2809875"/>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173F35"/>
                </a:solidFill>
                <a:latin typeface="Segoe UI"/>
                <a:ea typeface="Segoe UI"/>
                <a:cs typeface="Segoe UI"/>
              </a:defRPr>
            </a:defPPr>
          </a:lstStyle>
          <a:p xmlns:a="http://schemas.openxmlformats.org/drawingml/2006/main">
            <a:pPr>
              <a:defRPr sz="6900" b="1">
                <a:solidFill>
                  <a:srgbClr val="173F35"/>
                </a:solidFill>
                <a:latin typeface="Segoe UI"/>
                <a:ea typeface="Segoe UI"/>
                <a:cs typeface="Segoe UI"/>
              </a:defRPr>
            </a:pPr>
            <a:r>
              <a:rPr sz="6900" b="1">
                <a:solidFill>
                  <a:srgbClr val="173F35"/>
                </a:solidFill>
                <a:latin typeface="Segoe UI"/>
                <a:ea typeface="Segoe UI"/>
                <a:cs typeface="Segoe UI"/>
              </a:rPr>
              <a:t>200–1,500</a:t>
            </a:r>
          </a:p>
        </p:txBody>
      </p:sp>
      <p:sp>
        <p:nvSpPr>
          <p:cNvPr id="7" name="">
            <a:extLst xmlns:a="http://schemas.openxmlformats.org/drawingml/2006/main">
              <a:ext uri="{FF2B5EF4-FFF2-40B4-BE49-F238E27FC236}">
                <a16:creationId xmlns:a16="http://schemas.microsoft.com/office/drawing/2014/main" id="{D48D4DDD-F3D2-43CE-B5E5-5165A8E04397}"/>
              </a:ext>
            </a:extLst>
          </p:cNvPr>
          <p:cNvSpPr>
            <a:spLocks xmlns:a="http://schemas.openxmlformats.org/drawingml/2006/main" noGrp="1"/>
          </p:cNvSpPr>
          <p:nvPr/>
        </p:nvSpPr>
        <p:spPr>
          <a:xfrm xmlns:a="http://schemas.openxmlformats.org/drawingml/2006/main">
            <a:off x="647700" y="4105275"/>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27568"/>
                </a:solidFill>
                <a:latin typeface="Segoe UI"/>
                <a:ea typeface="Segoe UI"/>
                <a:cs typeface="Segoe UI"/>
              </a:defRPr>
            </a:defPPr>
          </a:lstStyle>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managed units per target organization</a:t>
            </a:r>
          </a:p>
        </p:txBody>
      </p:sp>
      <p:sp>
        <p:nvSpPr>
          <p:cNvPr id="8" name="">
            <a:extLst xmlns:a="http://schemas.openxmlformats.org/drawingml/2006/main">
              <a:ext uri="{FF2B5EF4-FFF2-40B4-BE49-F238E27FC236}">
                <a16:creationId xmlns:a16="http://schemas.microsoft.com/office/drawing/2014/main" id="{CFC8CE7D-FF9E-4120-A5CE-8B541CA4B53E}"/>
              </a:ext>
            </a:extLst>
          </p:cNvPr>
          <p:cNvSpPr>
            <a:spLocks xmlns:a="http://schemas.openxmlformats.org/drawingml/2006/main" noGrp="1"/>
          </p:cNvSpPr>
          <p:nvPr/>
        </p:nvSpPr>
        <p:spPr>
          <a:xfrm xmlns:a="http://schemas.openxmlformats.org/drawingml/2006/main">
            <a:off x="8524875" y="2886075"/>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627568"/>
                </a:solidFill>
                <a:latin typeface="Segoe UI"/>
                <a:ea typeface="Segoe UI"/>
                <a:cs typeface="Segoe UI"/>
              </a:defRPr>
            </a:defPPr>
          </a:lstStyle>
          <a:p xmlns:a="http://schemas.openxmlformats.org/drawingml/2006/main">
            <a:pPr>
              <a:defRPr sz="1575" b="1">
                <a:solidFill>
                  <a:srgbClr val="627568"/>
                </a:solidFill>
                <a:latin typeface="Segoe UI"/>
                <a:ea typeface="Segoe UI"/>
                <a:cs typeface="Segoe UI"/>
              </a:defRPr>
            </a:pPr>
            <a:r>
              <a:rPr sz="1575" b="1">
                <a:solidFill>
                  <a:srgbClr val="627568"/>
                </a:solidFill>
                <a:latin typeface="Segoe UI"/>
                <a:ea typeface="Segoe UI"/>
                <a:cs typeface="Segoe UI"/>
              </a:rPr>
              <a:t>Buyer</a:t>
            </a:r>
          </a:p>
        </p:txBody>
      </p:sp>
      <p:sp>
        <p:nvSpPr>
          <p:cNvPr id="9" name="">
            <a:extLst xmlns:a="http://schemas.openxmlformats.org/drawingml/2006/main">
              <a:ext uri="{FF2B5EF4-FFF2-40B4-BE49-F238E27FC236}">
                <a16:creationId xmlns:a16="http://schemas.microsoft.com/office/drawing/2014/main" id="{C064BEE5-AC3D-47ED-9FFD-6AA1D36DBD48}"/>
              </a:ext>
            </a:extLst>
          </p:cNvPr>
          <p:cNvSpPr>
            <a:spLocks xmlns:a="http://schemas.openxmlformats.org/drawingml/2006/main" noGrp="1"/>
          </p:cNvSpPr>
          <p:nvPr/>
        </p:nvSpPr>
        <p:spPr>
          <a:xfrm xmlns:a="http://schemas.openxmlformats.org/drawingml/2006/main">
            <a:off x="8524875" y="3324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F35"/>
                </a:solidFill>
                <a:latin typeface="Segoe UI"/>
                <a:ea typeface="Segoe UI"/>
                <a:cs typeface="Segoe UI"/>
              </a:defRPr>
            </a:defPPr>
          </a:lstStyle>
          <a:p xmlns:a="http://schemas.openxmlformats.org/drawingml/2006/main">
            <a:pPr>
              <a:defRPr sz="2325" b="1">
                <a:solidFill>
                  <a:srgbClr val="173F35"/>
                </a:solidFill>
                <a:latin typeface="Segoe UI"/>
                <a:ea typeface="Segoe UI"/>
                <a:cs typeface="Segoe UI"/>
              </a:defRPr>
            </a:pPr>
            <a:r>
              <a:rPr sz="2325" b="1">
                <a:solidFill>
                  <a:srgbClr val="173F35"/>
                </a:solidFill>
                <a:latin typeface="Segoe UI"/>
                <a:ea typeface="Segoe UI"/>
                <a:cs typeface="Segoe UI"/>
              </a:rPr>
              <a:t>Owner or</a:t>
            </a:r>
          </a:p>
          <a:p xmlns:a="http://schemas.openxmlformats.org/drawingml/2006/main">
            <a:pPr>
              <a:defRPr sz="2325" b="1">
                <a:solidFill>
                  <a:srgbClr val="173F35"/>
                </a:solidFill>
                <a:latin typeface="Segoe UI"/>
                <a:ea typeface="Segoe UI"/>
                <a:cs typeface="Segoe UI"/>
              </a:defRPr>
            </a:pPr>
            <a:r>
              <a:rPr sz="2325" b="1">
                <a:solidFill>
                  <a:srgbClr val="173F35"/>
                </a:solidFill>
                <a:latin typeface="Segoe UI"/>
                <a:ea typeface="Segoe UI"/>
                <a:cs typeface="Segoe UI"/>
              </a:rPr>
              <a:t>operations director</a:t>
            </a:r>
          </a:p>
        </p:txBody>
      </p:sp>
      <p:sp>
        <p:nvSpPr>
          <p:cNvPr id="10" name="">
            <a:extLst xmlns:a="http://schemas.openxmlformats.org/drawingml/2006/main">
              <a:ext uri="{FF2B5EF4-FFF2-40B4-BE49-F238E27FC236}">
                <a16:creationId xmlns:a16="http://schemas.microsoft.com/office/drawing/2014/main" id="{3EF9FE7C-C983-4B1A-BF78-3F42CE6F2FC4}"/>
              </a:ext>
            </a:extLst>
          </p:cNvPr>
          <p:cNvSpPr>
            <a:spLocks xmlns:a="http://schemas.openxmlformats.org/drawingml/2006/main" noGrp="1"/>
          </p:cNvSpPr>
          <p:nvPr/>
        </p:nvSpPr>
        <p:spPr>
          <a:xfrm xmlns:a="http://schemas.openxmlformats.org/drawingml/2006/main">
            <a:off x="647700" y="5114925"/>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27568"/>
                </a:solidFill>
                <a:latin typeface="Segoe UI"/>
                <a:ea typeface="Segoe UI"/>
                <a:cs typeface="Segoe UI"/>
              </a:defRPr>
            </a:defPPr>
          </a:lstStyle>
          <a:p xmlns:a="http://schemas.openxmlformats.org/drawingml/2006/main">
            <a:pPr>
              <a:defRPr sz="2025" b="0">
                <a:solidFill>
                  <a:srgbClr val="627568"/>
                </a:solidFill>
                <a:latin typeface="Segoe UI"/>
                <a:ea typeface="Segoe UI"/>
                <a:cs typeface="Segoe UI"/>
              </a:defRPr>
            </a:pPr>
            <a:r>
              <a:rPr sz="2025" b="0">
                <a:solidFill>
                  <a:srgbClr val="627568"/>
                </a:solidFill>
                <a:latin typeface="Segoe UI"/>
                <a:ea typeface="Segoe UI"/>
                <a:cs typeface="Segoe UI"/>
              </a:rPr>
              <a:t>First fit: independent residential property managers with recurring</a:t>
            </a:r>
          </a:p>
          <a:p xmlns:a="http://schemas.openxmlformats.org/drawingml/2006/main">
            <a:pPr>
              <a:defRPr sz="2025" b="0">
                <a:solidFill>
                  <a:srgbClr val="627568"/>
                </a:solidFill>
                <a:latin typeface="Segoe UI"/>
                <a:ea typeface="Segoe UI"/>
                <a:cs typeface="Segoe UI"/>
              </a:defRPr>
            </a:pPr>
            <a:r>
              <a:rPr sz="2025" b="0">
                <a:solidFill>
                  <a:srgbClr val="627568"/>
                </a:solidFill>
                <a:latin typeface="Segoe UI"/>
                <a:ea typeface="Segoe UI"/>
                <a:cs typeface="Segoe UI"/>
              </a:rPr>
              <a:t>equipment repairs and incomplete inventory records.</a:t>
            </a:r>
          </a:p>
        </p:txBody>
      </p:sp>
    </p:spTree>
    <p:extLst>
      <p:ext uri="{BB962C8B-B14F-4D97-AF65-F5344CB8AC3E}">
        <p14:creationId xmlns:p14="http://schemas.microsoft.com/office/powerpoint/2010/main" val="1919521004"/>
      </p:ext>
    </p:extLst>
  </p:cSld>
</p:sld>
</file>

<file path=ppt/slides/slide8.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035DAE-4934-47A9-991C-3CABEB7D324E}"/>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7EF"/>
                </a:solidFill>
                <a:latin typeface="Segoe UI"/>
                <a:ea typeface="Segoe UI"/>
                <a:cs typeface="Segoe UI"/>
              </a:defRPr>
            </a:defPPr>
          </a:lstStyle>
          <a:p xmlns:a="http://schemas.openxmlformats.org/drawingml/2006/main">
            <a:pPr>
              <a:defRPr sz="1800" b="1">
                <a:solidFill>
                  <a:srgbClr val="F7F7EF"/>
                </a:solidFill>
                <a:latin typeface="Segoe UI"/>
                <a:ea typeface="Segoe UI"/>
                <a:cs typeface="Segoe UI"/>
              </a:defRPr>
            </a:pPr>
            <a:r>
              <a:rPr sz="1800" b="1">
                <a:solidFill>
                  <a:srgbClr val="F7F7EF"/>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7E9A84EF-504A-41B7-BD67-72D748B8D9EE}"/>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D2EB8B"/>
                </a:solidFill>
                <a:latin typeface="Segoe UI"/>
                <a:ea typeface="Segoe UI"/>
                <a:cs typeface="Segoe UI"/>
              </a:defRPr>
            </a:defPPr>
          </a:lstStyle>
          <a:p xmlns:a="http://schemas.openxmlformats.org/drawingml/2006/main">
            <a:pPr>
              <a:defRPr sz="1050" b="1">
                <a:solidFill>
                  <a:srgbClr val="D2EB8B"/>
                </a:solidFill>
                <a:latin typeface="Segoe UI"/>
                <a:ea typeface="Segoe UI"/>
                <a:cs typeface="Segoe UI"/>
              </a:defRPr>
            </a:pPr>
            <a:r>
              <a:rPr sz="1050" b="1">
                <a:solidFill>
                  <a:srgbClr val="D2EB8B"/>
                </a:solidFill>
                <a:latin typeface="Segoe UI"/>
                <a:ea typeface="Segoe UI"/>
                <a:cs typeface="Segoe UI"/>
              </a:rPr>
              <a:t>07 / POSITIONING</a:t>
            </a:r>
          </a:p>
        </p:txBody>
      </p:sp>
      <p:sp>
        <p:nvSpPr>
          <p:cNvPr id="3" name="">
            <a:extLst xmlns:a="http://schemas.openxmlformats.org/drawingml/2006/main">
              <a:ext uri="{FF2B5EF4-FFF2-40B4-BE49-F238E27FC236}">
                <a16:creationId xmlns:a16="http://schemas.microsoft.com/office/drawing/2014/main" id="{AF222C26-E6F0-4B45-9BDE-2AD4BACE6924}"/>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7F7EF"/>
                </a:solidFill>
                <a:latin typeface="Segoe UI"/>
                <a:ea typeface="Segoe UI"/>
                <a:cs typeface="Segoe UI"/>
              </a:defRPr>
            </a:defPPr>
          </a:lstStyle>
          <a:p xmlns:a="http://schemas.openxmlformats.org/drawingml/2006/main">
            <a:pPr>
              <a:defRPr sz="3900" b="1">
                <a:solidFill>
                  <a:srgbClr val="F7F7EF"/>
                </a:solidFill>
                <a:latin typeface="Segoe UI"/>
                <a:ea typeface="Segoe UI"/>
                <a:cs typeface="Segoe UI"/>
              </a:defRPr>
            </a:pPr>
            <a:r>
              <a:rPr sz="3900" b="1">
                <a:solidFill>
                  <a:srgbClr val="F7F7EF"/>
                </a:solidFill>
                <a:latin typeface="Segoe UI"/>
                <a:ea typeface="Segoe UI"/>
                <a:cs typeface="Segoe UI"/>
              </a:rPr>
              <a:t>A focused layer around the equipment record</a:t>
            </a:r>
          </a:p>
        </p:txBody>
      </p:sp>
      <p:sp>
        <p:nvSpPr>
          <p:cNvPr id="4" name="">
            <a:extLst xmlns:a="http://schemas.openxmlformats.org/drawingml/2006/main">
              <a:ext uri="{FF2B5EF4-FFF2-40B4-BE49-F238E27FC236}">
                <a16:creationId xmlns:a16="http://schemas.microsoft.com/office/drawing/2014/main" id="{45C47775-EC31-4E49-AC1E-F76184FF1D12}"/>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DCCBF"/>
                </a:solidFill>
                <a:latin typeface="Segoe UI"/>
                <a:ea typeface="Segoe UI"/>
                <a:cs typeface="Segoe UI"/>
              </a:defRPr>
            </a:defPPr>
          </a:lstStyle>
          <a:p xmlns:a="http://schemas.openxmlformats.org/drawingml/2006/main">
            <a:pPr>
              <a:defRPr sz="900" b="0">
                <a:solidFill>
                  <a:srgbClr val="BDCCBF"/>
                </a:solidFill>
                <a:latin typeface="Segoe UI"/>
                <a:ea typeface="Segoe UI"/>
                <a:cs typeface="Segoe UI"/>
              </a:defRPr>
            </a:pPr>
            <a:r>
              <a:rPr sz="900" b="0">
                <a:solidFill>
                  <a:srgbClr val="BDCCBF"/>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56587220-3969-48EE-BD6D-AC5BDCD0B2A3}"/>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DCCBF"/>
                </a:solidFill>
                <a:latin typeface="Segoe UI"/>
                <a:ea typeface="Segoe UI"/>
                <a:cs typeface="Segoe UI"/>
              </a:defRPr>
            </a:defPPr>
          </a:lstStyle>
          <a:p xmlns:a="http://schemas.openxmlformats.org/drawingml/2006/main">
            <a:pPr>
              <a:defRPr sz="900" b="0">
                <a:solidFill>
                  <a:srgbClr val="BDCCBF"/>
                </a:solidFill>
                <a:latin typeface="Segoe UI"/>
                <a:ea typeface="Segoe UI"/>
                <a:cs typeface="Segoe UI"/>
              </a:defRPr>
            </a:pPr>
            <a:r>
              <a:rPr sz="900" b="0">
                <a:solidFill>
                  <a:srgbClr val="BDCCBF"/>
                </a:solidFill>
                <a:latin typeface="Segoe UI"/>
                <a:ea typeface="Segoe UI"/>
                <a:cs typeface="Segoe UI"/>
              </a:rPr>
              <a:t>08</a:t>
            </a:r>
          </a:p>
        </p:txBody>
      </p:sp>
      <p:sp>
        <p:nvSpPr>
          <p:cNvPr id="6" name="">
            <a:extLst xmlns:a="http://schemas.openxmlformats.org/drawingml/2006/main">
              <a:ext uri="{FF2B5EF4-FFF2-40B4-BE49-F238E27FC236}">
                <a16:creationId xmlns:a16="http://schemas.microsoft.com/office/drawing/2014/main" id="{E13CB2F1-173D-42D1-B2B8-DE2FA573E2B3}"/>
              </a:ext>
            </a:extLst>
          </p:cNvPr>
          <p:cNvSpPr>
            <a:spLocks xmlns:a="http://schemas.openxmlformats.org/drawingml/2006/main" noGrp="1"/>
          </p:cNvSpPr>
          <p:nvPr/>
        </p:nvSpPr>
        <p:spPr>
          <a:xfrm xmlns:a="http://schemas.openxmlformats.org/drawingml/2006/main">
            <a:off x="609600" y="28098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2EB8B"/>
                </a:solidFill>
                <a:latin typeface="Segoe UI"/>
                <a:ea typeface="Segoe UI"/>
                <a:cs typeface="Segoe UI"/>
              </a:defRPr>
            </a:defPPr>
          </a:lstStyle>
          <a:p xmlns:a="http://schemas.openxmlformats.org/drawingml/2006/main">
            <a:pPr>
              <a:defRPr sz="2175" b="1">
                <a:solidFill>
                  <a:srgbClr val="D2EB8B"/>
                </a:solidFill>
                <a:latin typeface="Segoe UI"/>
                <a:ea typeface="Segoe UI"/>
                <a:cs typeface="Segoe UI"/>
              </a:defRPr>
            </a:pPr>
            <a:r>
              <a:rPr sz="2175" b="1">
                <a:solidFill>
                  <a:srgbClr val="D2EB8B"/>
                </a:solidFill>
                <a:latin typeface="Segoe UI"/>
                <a:ea typeface="Segoe UI"/>
                <a:cs typeface="Segoe UI"/>
              </a:rPr>
              <a:t>Fits alongside existing management software</a:t>
            </a:r>
          </a:p>
        </p:txBody>
      </p:sp>
      <p:sp>
        <p:nvSpPr>
          <p:cNvPr id="7" name="">
            <a:extLst xmlns:a="http://schemas.openxmlformats.org/drawingml/2006/main">
              <a:ext uri="{FF2B5EF4-FFF2-40B4-BE49-F238E27FC236}">
                <a16:creationId xmlns:a16="http://schemas.microsoft.com/office/drawing/2014/main" id="{ED818301-CF14-4DDF-A6F9-2A91D5C180EC}"/>
              </a:ext>
            </a:extLst>
          </p:cNvPr>
          <p:cNvSpPr>
            <a:spLocks xmlns:a="http://schemas.openxmlformats.org/drawingml/2006/main" noGrp="1"/>
          </p:cNvSpPr>
          <p:nvPr/>
        </p:nvSpPr>
        <p:spPr>
          <a:xfrm xmlns:a="http://schemas.openxmlformats.org/drawingml/2006/main">
            <a:off x="609600" y="3219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CE5D4"/>
                </a:solidFill>
                <a:latin typeface="Segoe UI"/>
                <a:ea typeface="Segoe UI"/>
                <a:cs typeface="Segoe UI"/>
              </a:defRPr>
            </a:defPPr>
          </a:lstStyle>
          <a:p xmlns:a="http://schemas.openxmlformats.org/drawingml/2006/main">
            <a:pPr>
              <a:defRPr sz="1725" b="0">
                <a:solidFill>
                  <a:srgbClr val="DCE5D4"/>
                </a:solidFill>
                <a:latin typeface="Segoe UI"/>
                <a:ea typeface="Segoe UI"/>
                <a:cs typeface="Segoe UI"/>
              </a:defRPr>
            </a:pPr>
            <a:r>
              <a:rPr sz="1725" b="0">
                <a:solidFill>
                  <a:srgbClr val="DCE5D4"/>
                </a:solidFill>
                <a:latin typeface="Segoe UI"/>
                <a:ea typeface="Segoe UI"/>
                <a:cs typeface="Segoe UI"/>
              </a:rPr>
              <a:t>Begin with unit lists and exports instead of requiring a platform replacement.</a:t>
            </a:r>
          </a:p>
        </p:txBody>
      </p:sp>
      <p:sp>
        <p:nvSpPr>
          <p:cNvPr id="8" name="">
            <a:extLst xmlns:a="http://schemas.openxmlformats.org/drawingml/2006/main">
              <a:ext uri="{FF2B5EF4-FFF2-40B4-BE49-F238E27FC236}">
                <a16:creationId xmlns:a16="http://schemas.microsoft.com/office/drawing/2014/main" id="{D5B56C68-35FD-4287-A1F8-31C8509C6160}"/>
              </a:ext>
            </a:extLst>
          </p:cNvPr>
          <p:cNvSpPr>
            <a:spLocks xmlns:a="http://schemas.openxmlformats.org/drawingml/2006/main" noGrp="1"/>
          </p:cNvSpPr>
          <p:nvPr/>
        </p:nvSpPr>
        <p:spPr>
          <a:xfrm xmlns:a="http://schemas.openxmlformats.org/drawingml/2006/main">
            <a:off x="609600" y="3810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2EB8B"/>
                </a:solidFill>
                <a:latin typeface="Segoe UI"/>
                <a:ea typeface="Segoe UI"/>
                <a:cs typeface="Segoe UI"/>
              </a:defRPr>
            </a:defPPr>
          </a:lstStyle>
          <a:p xmlns:a="http://schemas.openxmlformats.org/drawingml/2006/main">
            <a:pPr>
              <a:defRPr sz="2175" b="1">
                <a:solidFill>
                  <a:srgbClr val="D2EB8B"/>
                </a:solidFill>
                <a:latin typeface="Segoe UI"/>
                <a:ea typeface="Segoe UI"/>
                <a:cs typeface="Segoe UI"/>
              </a:defRPr>
            </a:pPr>
            <a:r>
              <a:rPr sz="2175" b="1">
                <a:solidFill>
                  <a:srgbClr val="D2EB8B"/>
                </a:solidFill>
                <a:latin typeface="Segoe UI"/>
                <a:ea typeface="Segoe UI"/>
                <a:cs typeface="Segoe UI"/>
              </a:rPr>
              <a:t>Competes on workflow completion</a:t>
            </a:r>
          </a:p>
        </p:txBody>
      </p:sp>
      <p:sp>
        <p:nvSpPr>
          <p:cNvPr id="9" name="">
            <a:extLst xmlns:a="http://schemas.openxmlformats.org/drawingml/2006/main">
              <a:ext uri="{FF2B5EF4-FFF2-40B4-BE49-F238E27FC236}">
                <a16:creationId xmlns:a16="http://schemas.microsoft.com/office/drawing/2014/main" id="{55FBD6F8-924F-4F06-9ACE-B69B9D0502A2}"/>
              </a:ext>
            </a:extLst>
          </p:cNvPr>
          <p:cNvSpPr>
            <a:spLocks xmlns:a="http://schemas.openxmlformats.org/drawingml/2006/main" noGrp="1"/>
          </p:cNvSpPr>
          <p:nvPr/>
        </p:nvSpPr>
        <p:spPr>
          <a:xfrm xmlns:a="http://schemas.openxmlformats.org/drawingml/2006/main">
            <a:off x="609600" y="42195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CE5D4"/>
                </a:solidFill>
                <a:latin typeface="Segoe UI"/>
                <a:ea typeface="Segoe UI"/>
                <a:cs typeface="Segoe UI"/>
              </a:defRPr>
            </a:defPPr>
          </a:lstStyle>
          <a:p xmlns:a="http://schemas.openxmlformats.org/drawingml/2006/main">
            <a:pPr>
              <a:defRPr sz="1725" b="0">
                <a:solidFill>
                  <a:srgbClr val="DCE5D4"/>
                </a:solidFill>
                <a:latin typeface="Segoe UI"/>
                <a:ea typeface="Segoe UI"/>
                <a:cs typeface="Segoe UI"/>
              </a:defRPr>
            </a:pPr>
            <a:r>
              <a:rPr sz="1725" b="0">
                <a:solidFill>
                  <a:srgbClr val="DCE5D4"/>
                </a:solidFill>
                <a:latin typeface="Segoe UI"/>
                <a:ea typeface="Segoe UI"/>
                <a:cs typeface="Segoe UI"/>
              </a:rPr>
              <a:t>Capture once, preserve the original label and carry context into the repair.</a:t>
            </a:r>
          </a:p>
        </p:txBody>
      </p:sp>
      <p:sp>
        <p:nvSpPr>
          <p:cNvPr id="10" name="">
            <a:extLst xmlns:a="http://schemas.openxmlformats.org/drawingml/2006/main">
              <a:ext uri="{FF2B5EF4-FFF2-40B4-BE49-F238E27FC236}">
                <a16:creationId xmlns:a16="http://schemas.microsoft.com/office/drawing/2014/main" id="{5CF8DB5C-6D7A-473C-A027-398EA9FF1499}"/>
              </a:ext>
            </a:extLst>
          </p:cNvPr>
          <p:cNvSpPr>
            <a:spLocks xmlns:a="http://schemas.openxmlformats.org/drawingml/2006/main" noGrp="1"/>
          </p:cNvSpPr>
          <p:nvPr/>
        </p:nvSpPr>
        <p:spPr>
          <a:xfrm xmlns:a="http://schemas.openxmlformats.org/drawingml/2006/main">
            <a:off x="609600" y="481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2EB8B"/>
                </a:solidFill>
                <a:latin typeface="Segoe UI"/>
                <a:ea typeface="Segoe UI"/>
                <a:cs typeface="Segoe UI"/>
              </a:defRPr>
            </a:defPPr>
          </a:lstStyle>
          <a:p xmlns:a="http://schemas.openxmlformats.org/drawingml/2006/main">
            <a:pPr>
              <a:defRPr sz="2175" b="1">
                <a:solidFill>
                  <a:srgbClr val="D2EB8B"/>
                </a:solidFill>
                <a:latin typeface="Segoe UI"/>
                <a:ea typeface="Segoe UI"/>
                <a:cs typeface="Segoe UI"/>
              </a:defRPr>
            </a:pPr>
            <a:r>
              <a:rPr sz="2175" b="1">
                <a:solidFill>
                  <a:srgbClr val="D2EB8B"/>
                </a:solidFill>
                <a:latin typeface="Segoe UI"/>
                <a:ea typeface="Segoe UI"/>
                <a:cs typeface="Segoe UI"/>
              </a:rPr>
              <a:t>Must prove a reason to switch behavior</a:t>
            </a:r>
          </a:p>
        </p:txBody>
      </p:sp>
      <p:sp>
        <p:nvSpPr>
          <p:cNvPr id="11" name="">
            <a:extLst xmlns:a="http://schemas.openxmlformats.org/drawingml/2006/main">
              <a:ext uri="{FF2B5EF4-FFF2-40B4-BE49-F238E27FC236}">
                <a16:creationId xmlns:a16="http://schemas.microsoft.com/office/drawing/2014/main" id="{5E13A945-9C47-4D72-875B-6BFC054E0A9D}"/>
              </a:ext>
            </a:extLst>
          </p:cNvPr>
          <p:cNvSpPr>
            <a:spLocks xmlns:a="http://schemas.openxmlformats.org/drawingml/2006/main" noGrp="1"/>
          </p:cNvSpPr>
          <p:nvPr/>
        </p:nvSpPr>
        <p:spPr>
          <a:xfrm xmlns:a="http://schemas.openxmlformats.org/drawingml/2006/main">
            <a:off x="609600" y="52197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CE5D4"/>
                </a:solidFill>
                <a:latin typeface="Segoe UI"/>
                <a:ea typeface="Segoe UI"/>
                <a:cs typeface="Segoe UI"/>
              </a:defRPr>
            </a:defPPr>
          </a:lstStyle>
          <a:p xmlns:a="http://schemas.openxmlformats.org/drawingml/2006/main">
            <a:pPr>
              <a:defRPr sz="1725" b="0">
                <a:solidFill>
                  <a:srgbClr val="DCE5D4"/>
                </a:solidFill>
                <a:latin typeface="Segoe UI"/>
                <a:ea typeface="Segoe UI"/>
                <a:cs typeface="Segoe UI"/>
              </a:defRPr>
            </a:pPr>
            <a:r>
              <a:rPr sz="1725" b="0">
                <a:solidFill>
                  <a:srgbClr val="DCE5D4"/>
                </a:solidFill>
                <a:latin typeface="Segoe UI"/>
                <a:ea typeface="Segoe UI"/>
                <a:cs typeface="Segoe UI"/>
              </a:rPr>
              <a:t>Measure fewer missing-detail follow-ups and less coordinator handling time.</a:t>
            </a:r>
          </a:p>
        </p:txBody>
      </p:sp>
    </p:spTree>
    <p:extLst>
      <p:ext uri="{BB962C8B-B14F-4D97-AF65-F5344CB8AC3E}">
        <p14:creationId xmlns:p14="http://schemas.microsoft.com/office/powerpoint/2010/main" val="1404810395"/>
      </p:ext>
    </p:extLst>
  </p:cSld>
</p:sld>
</file>

<file path=ppt/slides/slide9.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2ED97F-861F-478C-880C-992F30364A32}"/>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ECE1E146-EA26-4666-9EF1-11A7761BE524}"/>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08 / BUSINESS MODEL</a:t>
            </a:r>
          </a:p>
        </p:txBody>
      </p:sp>
      <p:sp>
        <p:nvSpPr>
          <p:cNvPr id="3" name="">
            <a:extLst xmlns:a="http://schemas.openxmlformats.org/drawingml/2006/main">
              <a:ext uri="{FF2B5EF4-FFF2-40B4-BE49-F238E27FC236}">
                <a16:creationId xmlns:a16="http://schemas.microsoft.com/office/drawing/2014/main" id="{B272B584-2BC8-4DE9-B487-42C3080A4D41}"/>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An organization license with recurring revenue</a:t>
            </a:r>
          </a:p>
        </p:txBody>
      </p:sp>
      <p:sp>
        <p:nvSpPr>
          <p:cNvPr id="4" name="">
            <a:extLst xmlns:a="http://schemas.openxmlformats.org/drawingml/2006/main">
              <a:ext uri="{FF2B5EF4-FFF2-40B4-BE49-F238E27FC236}">
                <a16:creationId xmlns:a16="http://schemas.microsoft.com/office/drawing/2014/main" id="{5DDB740D-AC38-40FF-A094-12A3B9174000}"/>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31139D07-72C8-4C19-A678-3985551CC4EF}"/>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09</a:t>
            </a:r>
          </a:p>
        </p:txBody>
      </p:sp>
      <p:sp>
        <p:nvSpPr>
          <p:cNvPr id="6" name="">
            <a:extLst xmlns:a="http://schemas.openxmlformats.org/drawingml/2006/main">
              <a:ext uri="{FF2B5EF4-FFF2-40B4-BE49-F238E27FC236}">
                <a16:creationId xmlns:a16="http://schemas.microsoft.com/office/drawing/2014/main" id="{38E49E6F-F9A3-4037-B6D8-F9BA18D7DE60}"/>
              </a:ext>
            </a:extLst>
          </p:cNvPr>
          <p:cNvSpPr>
            <a:spLocks xmlns:a="http://schemas.openxmlformats.org/drawingml/2006/main" noGrp="1"/>
          </p:cNvSpPr>
          <p:nvPr/>
        </p:nvSpPr>
        <p:spPr>
          <a:xfrm xmlns:a="http://schemas.openxmlformats.org/drawingml/2006/main">
            <a:off x="609600" y="271462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173F35"/>
                </a:solidFill>
                <a:latin typeface="Segoe UI"/>
                <a:ea typeface="Segoe UI"/>
                <a:cs typeface="Segoe UI"/>
              </a:defRPr>
            </a:defPPr>
          </a:lstStyle>
          <a:p xmlns:a="http://schemas.openxmlformats.org/drawingml/2006/main">
            <a:pPr>
              <a:defRPr sz="6900" b="1">
                <a:solidFill>
                  <a:srgbClr val="173F35"/>
                </a:solidFill>
                <a:latin typeface="Segoe UI"/>
                <a:ea typeface="Segoe UI"/>
                <a:cs typeface="Segoe UI"/>
              </a:defRPr>
            </a:pPr>
            <a:r>
              <a:rPr sz="6900" b="1">
                <a:solidFill>
                  <a:srgbClr val="173F35"/>
                </a:solidFill>
                <a:latin typeface="Segoe UI"/>
                <a:ea typeface="Segoe UI"/>
                <a:cs typeface="Segoe UI"/>
              </a:rPr>
              <a:t>$149</a:t>
            </a:r>
          </a:p>
        </p:txBody>
      </p:sp>
      <p:sp>
        <p:nvSpPr>
          <p:cNvPr id="7" name="">
            <a:extLst xmlns:a="http://schemas.openxmlformats.org/drawingml/2006/main">
              <a:ext uri="{FF2B5EF4-FFF2-40B4-BE49-F238E27FC236}">
                <a16:creationId xmlns:a16="http://schemas.microsoft.com/office/drawing/2014/main" id="{2C3E6D8C-BDE0-400A-9D71-C5FBF08D0F70}"/>
              </a:ext>
            </a:extLst>
          </p:cNvPr>
          <p:cNvSpPr>
            <a:spLocks xmlns:a="http://schemas.openxmlformats.org/drawingml/2006/main" noGrp="1"/>
          </p:cNvSpPr>
          <p:nvPr/>
        </p:nvSpPr>
        <p:spPr>
          <a:xfrm xmlns:a="http://schemas.openxmlformats.org/drawingml/2006/main">
            <a:off x="647700" y="3990975"/>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27568"/>
                </a:solidFill>
                <a:latin typeface="Segoe UI"/>
                <a:ea typeface="Segoe UI"/>
                <a:cs typeface="Segoe UI"/>
              </a:defRPr>
            </a:defPPr>
          </a:lstStyle>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per month, including 200 units</a:t>
            </a:r>
          </a:p>
        </p:txBody>
      </p:sp>
      <p:sp>
        <p:nvSpPr>
          <p:cNvPr id="8" name="">
            <a:extLst xmlns:a="http://schemas.openxmlformats.org/drawingml/2006/main">
              <a:ext uri="{FF2B5EF4-FFF2-40B4-BE49-F238E27FC236}">
                <a16:creationId xmlns:a16="http://schemas.microsoft.com/office/drawing/2014/main" id="{C064DA11-6907-41DD-B66A-E3FA8661B6C0}"/>
              </a:ext>
            </a:extLst>
          </p:cNvPr>
          <p:cNvSpPr>
            <a:spLocks xmlns:a="http://schemas.openxmlformats.org/drawingml/2006/main" noGrp="1"/>
          </p:cNvSpPr>
          <p:nvPr/>
        </p:nvSpPr>
        <p:spPr>
          <a:xfrm xmlns:a="http://schemas.openxmlformats.org/drawingml/2006/main">
            <a:off x="7524750" y="28670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725" b="1">
                <a:solidFill>
                  <a:srgbClr val="173F35"/>
                </a:solidFill>
                <a:latin typeface="Segoe UI"/>
                <a:ea typeface="Segoe UI"/>
                <a:cs typeface="Segoe UI"/>
              </a:defRPr>
            </a:defPPr>
          </a:lstStyle>
          <a:p xmlns:a="http://schemas.openxmlformats.org/drawingml/2006/main">
            <a:pPr>
              <a:defRPr sz="4725" b="1">
                <a:solidFill>
                  <a:srgbClr val="173F35"/>
                </a:solidFill>
                <a:latin typeface="Segoe UI"/>
                <a:ea typeface="Segoe UI"/>
                <a:cs typeface="Segoe UI"/>
              </a:defRPr>
            </a:pPr>
            <a:r>
              <a:rPr sz="4725" b="1">
                <a:solidFill>
                  <a:srgbClr val="173F35"/>
                </a:solidFill>
                <a:latin typeface="Segoe UI"/>
                <a:ea typeface="Segoe UI"/>
                <a:cs typeface="Segoe UI"/>
              </a:rPr>
              <a:t>+$0.50</a:t>
            </a:r>
          </a:p>
        </p:txBody>
      </p:sp>
      <p:sp>
        <p:nvSpPr>
          <p:cNvPr id="9" name="">
            <a:extLst xmlns:a="http://schemas.openxmlformats.org/drawingml/2006/main">
              <a:ext uri="{FF2B5EF4-FFF2-40B4-BE49-F238E27FC236}">
                <a16:creationId xmlns:a16="http://schemas.microsoft.com/office/drawing/2014/main" id="{73C842DD-40BE-443B-831C-DD2ED6AE564D}"/>
              </a:ext>
            </a:extLst>
          </p:cNvPr>
          <p:cNvSpPr>
            <a:spLocks xmlns:a="http://schemas.openxmlformats.org/drawingml/2006/main" noGrp="1"/>
          </p:cNvSpPr>
          <p:nvPr/>
        </p:nvSpPr>
        <p:spPr>
          <a:xfrm xmlns:a="http://schemas.openxmlformats.org/drawingml/2006/main">
            <a:off x="7524750" y="388620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27568"/>
                </a:solidFill>
                <a:latin typeface="Segoe UI"/>
                <a:ea typeface="Segoe UI"/>
                <a:cs typeface="Segoe UI"/>
              </a:defRPr>
            </a:defPPr>
          </a:lstStyle>
          <a:p xmlns:a="http://schemas.openxmlformats.org/drawingml/2006/main">
            <a:pPr>
              <a:defRPr sz="1950" b="0">
                <a:solidFill>
                  <a:srgbClr val="627568"/>
                </a:solidFill>
                <a:latin typeface="Segoe UI"/>
                <a:ea typeface="Segoe UI"/>
                <a:cs typeface="Segoe UI"/>
              </a:defRPr>
            </a:pPr>
            <a:r>
              <a:rPr sz="1950" b="0">
                <a:solidFill>
                  <a:srgbClr val="627568"/>
                </a:solidFill>
                <a:latin typeface="Segoe UI"/>
                <a:ea typeface="Segoe UI"/>
                <a:cs typeface="Segoe UI"/>
              </a:rPr>
              <a:t>per additional managed unit / month</a:t>
            </a:r>
          </a:p>
        </p:txBody>
      </p:sp>
      <p:sp>
        <p:nvSpPr>
          <p:cNvPr id="10" name="">
            <a:extLst xmlns:a="http://schemas.openxmlformats.org/drawingml/2006/main">
              <a:ext uri="{FF2B5EF4-FFF2-40B4-BE49-F238E27FC236}">
                <a16:creationId xmlns:a16="http://schemas.microsoft.com/office/drawing/2014/main" id="{1B3C2204-0C66-484D-B392-0A2F60B2C2E9}"/>
              </a:ext>
            </a:extLst>
          </p:cNvPr>
          <p:cNvSpPr>
            <a:spLocks xmlns:a="http://schemas.openxmlformats.org/drawingml/2006/main" noGrp="1"/>
          </p:cNvSpPr>
          <p:nvPr/>
        </p:nvSpPr>
        <p:spPr>
          <a:xfrm xmlns:a="http://schemas.openxmlformats.org/drawingml/2006/main">
            <a:off x="647700" y="51244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500 units: $299/month                 1,000 units: $549/month</a:t>
            </a:r>
          </a:p>
        </p:txBody>
      </p:sp>
      <p:sp>
        <p:nvSpPr>
          <p:cNvPr id="11" name="">
            <a:extLst xmlns:a="http://schemas.openxmlformats.org/drawingml/2006/main">
              <a:ext uri="{FF2B5EF4-FFF2-40B4-BE49-F238E27FC236}">
                <a16:creationId xmlns:a16="http://schemas.microsoft.com/office/drawing/2014/main" id="{5B1A1F39-8D67-4DA7-8A34-FB728AEAC6D4}"/>
              </a:ext>
            </a:extLst>
          </p:cNvPr>
          <p:cNvSpPr>
            <a:spLocks xmlns:a="http://schemas.openxmlformats.org/drawingml/2006/main" noGrp="1"/>
          </p:cNvSpPr>
          <p:nvPr/>
        </p:nvSpPr>
        <p:spPr>
          <a:xfrm xmlns:a="http://schemas.openxmlformats.org/drawingml/2006/main">
            <a:off x="647700" y="581025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568"/>
                </a:solidFill>
                <a:latin typeface="Segoe UI"/>
                <a:ea typeface="Segoe UI"/>
                <a:cs typeface="Segoe UI"/>
              </a:defRPr>
            </a:defPPr>
          </a:lstStyle>
          <a:p xmlns:a="http://schemas.openxmlformats.org/drawingml/2006/main">
            <a:pPr>
              <a:defRPr sz="1350" b="0">
                <a:solidFill>
                  <a:srgbClr val="627568"/>
                </a:solidFill>
                <a:latin typeface="Segoe UI"/>
                <a:ea typeface="Segoe UI"/>
                <a:cs typeface="Segoe UI"/>
              </a:defRPr>
            </a:pPr>
            <a:r>
              <a:rPr sz="1350" b="0">
                <a:solidFill>
                  <a:srgbClr val="627568"/>
                </a:solidFill>
                <a:latin typeface="Segoe UI"/>
                <a:ea typeface="Segoe UI"/>
                <a:cs typeface="Segoe UI"/>
              </a:rPr>
              <a:t>Proposed pricing for validation. Billing and shared organization access are not live.</a:t>
            </a:r>
          </a:p>
        </p:txBody>
      </p:sp>
    </p:spTree>
    <p:extLst>
      <p:ext uri="{BB962C8B-B14F-4D97-AF65-F5344CB8AC3E}">
        <p14:creationId xmlns:p14="http://schemas.microsoft.com/office/powerpoint/2010/main" val="1365305568"/>
      </p:ext>
    </p:extLst>
  </p:cSld>
</p:sld>
</file>

<file path=ppt/slides/slide10.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409577-AC2B-4448-B5FF-8FC50C7C85D7}"/>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A1143719-0D63-4805-8CE9-21CA3D66B817}"/>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09 / ECONOMICS</a:t>
            </a:r>
          </a:p>
        </p:txBody>
      </p:sp>
      <p:sp>
        <p:nvSpPr>
          <p:cNvPr id="3" name="">
            <a:extLst xmlns:a="http://schemas.openxmlformats.org/drawingml/2006/main">
              <a:ext uri="{FF2B5EF4-FFF2-40B4-BE49-F238E27FC236}">
                <a16:creationId xmlns:a16="http://schemas.microsoft.com/office/drawing/2014/main" id="{F73C3941-442F-4605-8FAD-8F4D64C0FC74}"/>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Recurring revenue needs controlled delivery costs</a:t>
            </a:r>
          </a:p>
        </p:txBody>
      </p:sp>
      <p:sp>
        <p:nvSpPr>
          <p:cNvPr id="4" name="">
            <a:extLst xmlns:a="http://schemas.openxmlformats.org/drawingml/2006/main">
              <a:ext uri="{FF2B5EF4-FFF2-40B4-BE49-F238E27FC236}">
                <a16:creationId xmlns:a16="http://schemas.microsoft.com/office/drawing/2014/main" id="{10A9ECEF-6E23-4242-AC80-7D8405AEC201}"/>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6D453EE2-F598-4F7B-9600-38B005F29917}"/>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10</a:t>
            </a:r>
          </a:p>
        </p:txBody>
      </p:sp>
      <p:sp>
        <p:nvSpPr>
          <p:cNvPr id="6" name="">
            <a:extLst xmlns:a="http://schemas.openxmlformats.org/drawingml/2006/main">
              <a:ext uri="{FF2B5EF4-FFF2-40B4-BE49-F238E27FC236}">
                <a16:creationId xmlns:a16="http://schemas.microsoft.com/office/drawing/2014/main" id="{A525A290-8DC6-4ED1-83E2-4C61CCFE0CEC}"/>
              </a:ext>
            </a:extLst>
          </p:cNvPr>
          <p:cNvSpPr>
            <a:spLocks xmlns:a="http://schemas.openxmlformats.org/drawingml/2006/main" noGrp="1"/>
          </p:cNvSpPr>
          <p:nvPr/>
        </p:nvSpPr>
        <p:spPr>
          <a:xfrm xmlns:a="http://schemas.openxmlformats.org/drawingml/2006/main">
            <a:off x="609600" y="2781300"/>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73F35"/>
                </a:solidFill>
                <a:latin typeface="Segoe UI"/>
                <a:ea typeface="Segoe UI"/>
                <a:cs typeface="Segoe UI"/>
              </a:defRPr>
            </a:defPPr>
          </a:lstStyle>
          <a:p xmlns:a="http://schemas.openxmlformats.org/drawingml/2006/main">
            <a:pPr>
              <a:defRPr sz="5700" b="1">
                <a:solidFill>
                  <a:srgbClr val="173F35"/>
                </a:solidFill>
                <a:latin typeface="Segoe UI"/>
                <a:ea typeface="Segoe UI"/>
                <a:cs typeface="Segoe UI"/>
              </a:defRPr>
            </a:pPr>
            <a:r>
              <a:rPr sz="5700" b="1">
                <a:solidFill>
                  <a:srgbClr val="173F35"/>
                </a:solidFill>
                <a:latin typeface="Segoe UI"/>
                <a:ea typeface="Segoe UI"/>
                <a:cs typeface="Segoe UI"/>
              </a:rPr>
              <a:t>$299</a:t>
            </a:r>
          </a:p>
        </p:txBody>
      </p:sp>
      <p:sp>
        <p:nvSpPr>
          <p:cNvPr id="7" name="">
            <a:extLst xmlns:a="http://schemas.openxmlformats.org/drawingml/2006/main">
              <a:ext uri="{FF2B5EF4-FFF2-40B4-BE49-F238E27FC236}">
                <a16:creationId xmlns:a16="http://schemas.microsoft.com/office/drawing/2014/main" id="{978FD3A0-E7B1-40E9-BB2C-B793D93C8D31}"/>
              </a:ext>
            </a:extLst>
          </p:cNvPr>
          <p:cNvSpPr>
            <a:spLocks xmlns:a="http://schemas.openxmlformats.org/drawingml/2006/main" noGrp="1"/>
          </p:cNvSpPr>
          <p:nvPr/>
        </p:nvSpPr>
        <p:spPr>
          <a:xfrm xmlns:a="http://schemas.openxmlformats.org/drawingml/2006/main">
            <a:off x="647700" y="3876675"/>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27568"/>
                </a:solidFill>
                <a:latin typeface="Segoe UI"/>
                <a:ea typeface="Segoe UI"/>
                <a:cs typeface="Segoe UI"/>
              </a:defRPr>
            </a:defPPr>
          </a:lstStyle>
          <a:p xmlns:a="http://schemas.openxmlformats.org/drawingml/2006/main">
            <a:pPr>
              <a:defRPr sz="1950" b="0">
                <a:solidFill>
                  <a:srgbClr val="627568"/>
                </a:solidFill>
                <a:latin typeface="Segoe UI"/>
                <a:ea typeface="Segoe UI"/>
                <a:cs typeface="Segoe UI"/>
              </a:defRPr>
            </a:pPr>
            <a:r>
              <a:rPr sz="1950" b="0">
                <a:solidFill>
                  <a:srgbClr val="627568"/>
                </a:solidFill>
                <a:latin typeface="Segoe UI"/>
                <a:ea typeface="Segoe UI"/>
                <a:cs typeface="Segoe UI"/>
              </a:rPr>
              <a:t>Example monthly account revenue</a:t>
            </a:r>
          </a:p>
        </p:txBody>
      </p:sp>
      <p:sp>
        <p:nvSpPr>
          <p:cNvPr id="8" name="">
            <a:extLst xmlns:a="http://schemas.openxmlformats.org/drawingml/2006/main">
              <a:ext uri="{FF2B5EF4-FFF2-40B4-BE49-F238E27FC236}">
                <a16:creationId xmlns:a16="http://schemas.microsoft.com/office/drawing/2014/main" id="{E04085D8-A466-4440-A38A-961637CD5ACE}"/>
              </a:ext>
            </a:extLst>
          </p:cNvPr>
          <p:cNvSpPr>
            <a:spLocks xmlns:a="http://schemas.openxmlformats.org/drawingml/2006/main" noGrp="1"/>
          </p:cNvSpPr>
          <p:nvPr/>
        </p:nvSpPr>
        <p:spPr>
          <a:xfrm xmlns:a="http://schemas.openxmlformats.org/drawingml/2006/main">
            <a:off x="6667500" y="278130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73F35"/>
                </a:solidFill>
                <a:latin typeface="Segoe UI"/>
                <a:ea typeface="Segoe UI"/>
                <a:cs typeface="Segoe UI"/>
              </a:defRPr>
            </a:defPPr>
          </a:lstStyle>
          <a:p xmlns:a="http://schemas.openxmlformats.org/drawingml/2006/main">
            <a:pPr>
              <a:defRPr sz="5700" b="1">
                <a:solidFill>
                  <a:srgbClr val="173F35"/>
                </a:solidFill>
                <a:latin typeface="Segoe UI"/>
                <a:ea typeface="Segoe UI"/>
                <a:cs typeface="Segoe UI"/>
              </a:defRPr>
            </a:pPr>
            <a:r>
              <a:rPr sz="5700" b="1">
                <a:solidFill>
                  <a:srgbClr val="173F35"/>
                </a:solidFill>
                <a:latin typeface="Segoe UI"/>
                <a:ea typeface="Segoe UI"/>
                <a:cs typeface="Segoe UI"/>
              </a:rPr>
              <a:t>$59.80</a:t>
            </a:r>
          </a:p>
        </p:txBody>
      </p:sp>
      <p:sp>
        <p:nvSpPr>
          <p:cNvPr id="9" name="">
            <a:extLst xmlns:a="http://schemas.openxmlformats.org/drawingml/2006/main">
              <a:ext uri="{FF2B5EF4-FFF2-40B4-BE49-F238E27FC236}">
                <a16:creationId xmlns:a16="http://schemas.microsoft.com/office/drawing/2014/main" id="{632E05B1-0A2E-4DAB-AEB5-8EB15BB1122B}"/>
              </a:ext>
            </a:extLst>
          </p:cNvPr>
          <p:cNvSpPr>
            <a:spLocks xmlns:a="http://schemas.openxmlformats.org/drawingml/2006/main" noGrp="1"/>
          </p:cNvSpPr>
          <p:nvPr/>
        </p:nvSpPr>
        <p:spPr>
          <a:xfrm xmlns:a="http://schemas.openxmlformats.org/drawingml/2006/main">
            <a:off x="6705600" y="3876675"/>
            <a:ext cx="4476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27568"/>
                </a:solidFill>
                <a:latin typeface="Segoe UI"/>
                <a:ea typeface="Segoe UI"/>
                <a:cs typeface="Segoe UI"/>
              </a:defRPr>
            </a:defPPr>
          </a:lstStyle>
          <a:p xmlns:a="http://schemas.openxmlformats.org/drawingml/2006/main">
            <a:pPr>
              <a:defRPr sz="1950" b="0">
                <a:solidFill>
                  <a:srgbClr val="627568"/>
                </a:solidFill>
                <a:latin typeface="Segoe UI"/>
                <a:ea typeface="Segoe UI"/>
                <a:cs typeface="Segoe UI"/>
              </a:defRPr>
            </a:pPr>
            <a:r>
              <a:rPr sz="1950" b="0">
                <a:solidFill>
                  <a:srgbClr val="627568"/>
                </a:solidFill>
                <a:latin typeface="Segoe UI"/>
                <a:ea typeface="Segoe UI"/>
                <a:cs typeface="Segoe UI"/>
              </a:rPr>
              <a:t>Maximum direct cost at an</a:t>
            </a:r>
          </a:p>
          <a:p xmlns:a="http://schemas.openxmlformats.org/drawingml/2006/main">
            <a:pPr>
              <a:defRPr sz="1950" b="0">
                <a:solidFill>
                  <a:srgbClr val="627568"/>
                </a:solidFill>
                <a:latin typeface="Segoe UI"/>
                <a:ea typeface="Segoe UI"/>
                <a:cs typeface="Segoe UI"/>
              </a:defRPr>
            </a:pPr>
            <a:r>
              <a:rPr sz="1950" b="0">
                <a:solidFill>
                  <a:srgbClr val="627568"/>
                </a:solidFill>
                <a:latin typeface="Segoe UI"/>
                <a:ea typeface="Segoe UI"/>
                <a:cs typeface="Segoe UI"/>
              </a:rPr>
              <a:t>80% gross-margin target</a:t>
            </a:r>
          </a:p>
        </p:txBody>
      </p:sp>
      <p:sp>
        <p:nvSpPr>
          <p:cNvPr id="10" name="">
            <a:extLst xmlns:a="http://schemas.openxmlformats.org/drawingml/2006/main">
              <a:ext uri="{FF2B5EF4-FFF2-40B4-BE49-F238E27FC236}">
                <a16:creationId xmlns:a16="http://schemas.microsoft.com/office/drawing/2014/main" id="{94E6C702-E517-4F48-BE9F-12E95651FFD7}"/>
              </a:ext>
            </a:extLst>
          </p:cNvPr>
          <p:cNvSpPr>
            <a:spLocks xmlns:a="http://schemas.openxmlformats.org/drawingml/2006/main" noGrp="1"/>
          </p:cNvSpPr>
          <p:nvPr/>
        </p:nvSpPr>
        <p:spPr>
          <a:xfrm xmlns:a="http://schemas.openxmlformats.org/drawingml/2006/main">
            <a:off x="647700" y="51435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F35"/>
                </a:solidFill>
                <a:latin typeface="Segoe UI"/>
                <a:ea typeface="Segoe UI"/>
                <a:cs typeface="Segoe UI"/>
              </a:defRPr>
            </a:defPPr>
          </a:lstStyle>
          <a:p xmlns:a="http://schemas.openxmlformats.org/drawingml/2006/main">
            <a:pPr>
              <a:defRPr sz="2400" b="1">
                <a:solidFill>
                  <a:srgbClr val="173F35"/>
                </a:solidFill>
                <a:latin typeface="Segoe UI"/>
                <a:ea typeface="Segoe UI"/>
                <a:cs typeface="Segoe UI"/>
              </a:defRPr>
            </a:pPr>
            <a:r>
              <a:rPr sz="2400" b="1">
                <a:solidFill>
                  <a:srgbClr val="173F35"/>
                </a:solidFill>
                <a:latin typeface="Segoe UI"/>
                <a:ea typeface="Segoe UI"/>
                <a:cs typeface="Segoe UI"/>
              </a:rPr>
              <a:t>100 accounts at this mix would equal $29,900 MRR.</a:t>
            </a:r>
          </a:p>
        </p:txBody>
      </p:sp>
      <p:sp>
        <p:nvSpPr>
          <p:cNvPr id="11" name="">
            <a:extLst xmlns:a="http://schemas.openxmlformats.org/drawingml/2006/main">
              <a:ext uri="{FF2B5EF4-FFF2-40B4-BE49-F238E27FC236}">
                <a16:creationId xmlns:a16="http://schemas.microsoft.com/office/drawing/2014/main" id="{7D4E9656-CD32-458A-B2E9-C68DD817FCF5}"/>
              </a:ext>
            </a:extLst>
          </p:cNvPr>
          <p:cNvSpPr>
            <a:spLocks xmlns:a="http://schemas.openxmlformats.org/drawingml/2006/main" noGrp="1"/>
          </p:cNvSpPr>
          <p:nvPr/>
        </p:nvSpPr>
        <p:spPr>
          <a:xfrm xmlns:a="http://schemas.openxmlformats.org/drawingml/2006/main">
            <a:off x="647700" y="58293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568"/>
                </a:solidFill>
                <a:latin typeface="Segoe UI"/>
                <a:ea typeface="Segoe UI"/>
                <a:cs typeface="Segoe UI"/>
              </a:defRPr>
            </a:defPPr>
          </a:lstStyle>
          <a:p xmlns:a="http://schemas.openxmlformats.org/drawingml/2006/main">
            <a:pPr>
              <a:defRPr sz="1350" b="0">
                <a:solidFill>
                  <a:srgbClr val="627568"/>
                </a:solidFill>
                <a:latin typeface="Segoe UI"/>
                <a:ea typeface="Segoe UI"/>
                <a:cs typeface="Segoe UI"/>
              </a:defRPr>
            </a:pPr>
            <a:r>
              <a:rPr sz="1350" b="0">
                <a:solidFill>
                  <a:srgbClr val="627568"/>
                </a:solidFill>
                <a:latin typeface="Segoe UI"/>
                <a:ea typeface="Segoe UI"/>
                <a:cs typeface="Segoe UI"/>
              </a:rPr>
              <a:t>Illustrative scenario, not traction or a forecast. Excludes sales, development and overhead.</a:t>
            </a:r>
          </a:p>
        </p:txBody>
      </p:sp>
    </p:spTree>
    <p:extLst>
      <p:ext uri="{BB962C8B-B14F-4D97-AF65-F5344CB8AC3E}">
        <p14:creationId xmlns:p14="http://schemas.microsoft.com/office/powerpoint/2010/main" val="246711832"/>
      </p:ext>
    </p:extLst>
  </p:cSld>
</p:sld>
</file>

<file path=ppt/slides/slide11.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682A39-5CA6-4B00-A29A-7BE4CA077FC8}"/>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F9C62E6F-8850-404B-A19A-53203DF83FF1}"/>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10 / GO TO MARKET</a:t>
            </a:r>
          </a:p>
        </p:txBody>
      </p:sp>
      <p:sp>
        <p:nvSpPr>
          <p:cNvPr id="3" name="">
            <a:extLst xmlns:a="http://schemas.openxmlformats.org/drawingml/2006/main">
              <a:ext uri="{FF2B5EF4-FFF2-40B4-BE49-F238E27FC236}">
                <a16:creationId xmlns:a16="http://schemas.microsoft.com/office/drawing/2014/main" id="{063EFC62-C3A0-4B5A-A82E-ADE3B99175A4}"/>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A paid pilot should test the business</a:t>
            </a:r>
          </a:p>
        </p:txBody>
      </p:sp>
      <p:sp>
        <p:nvSpPr>
          <p:cNvPr id="4" name="">
            <a:extLst xmlns:a="http://schemas.openxmlformats.org/drawingml/2006/main">
              <a:ext uri="{FF2B5EF4-FFF2-40B4-BE49-F238E27FC236}">
                <a16:creationId xmlns:a16="http://schemas.microsoft.com/office/drawing/2014/main" id="{410F2CE2-0D91-4DFA-B3A1-FF4269AD7FC1}"/>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A52F1E77-A840-4F47-9962-4C2C20D1C93C}"/>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11</a:t>
            </a:r>
          </a:p>
        </p:txBody>
      </p:sp>
      <p:sp>
        <p:nvSpPr>
          <p:cNvPr id="6" name="">
            <a:extLst xmlns:a="http://schemas.openxmlformats.org/drawingml/2006/main">
              <a:ext uri="{FF2B5EF4-FFF2-40B4-BE49-F238E27FC236}">
                <a16:creationId xmlns:a16="http://schemas.microsoft.com/office/drawing/2014/main" id="{10012C7A-F494-4999-B8DE-D51D2915A8BA}"/>
              </a:ext>
            </a:extLst>
          </p:cNvPr>
          <p:cNvSpPr>
            <a:spLocks xmlns:a="http://schemas.openxmlformats.org/drawingml/2006/main" noGrp="1"/>
          </p:cNvSpPr>
          <p:nvPr/>
        </p:nvSpPr>
        <p:spPr>
          <a:xfrm xmlns:a="http://schemas.openxmlformats.org/drawingml/2006/main">
            <a:off x="609600" y="28098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Recruit three design partners</a:t>
            </a:r>
          </a:p>
        </p:txBody>
      </p:sp>
      <p:sp>
        <p:nvSpPr>
          <p:cNvPr id="7" name="">
            <a:extLst xmlns:a="http://schemas.openxmlformats.org/drawingml/2006/main">
              <a:ext uri="{FF2B5EF4-FFF2-40B4-BE49-F238E27FC236}">
                <a16:creationId xmlns:a16="http://schemas.microsoft.com/office/drawing/2014/main" id="{65113AFB-8D55-42B7-A257-0386417A1384}"/>
              </a:ext>
            </a:extLst>
          </p:cNvPr>
          <p:cNvSpPr>
            <a:spLocks xmlns:a="http://schemas.openxmlformats.org/drawingml/2006/main" noGrp="1"/>
          </p:cNvSpPr>
          <p:nvPr/>
        </p:nvSpPr>
        <p:spPr>
          <a:xfrm xmlns:a="http://schemas.openxmlformats.org/drawingml/2006/main">
            <a:off x="609600" y="32194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Target independent managers through direct outreach and maintenance referrals.</a:t>
            </a:r>
          </a:p>
        </p:txBody>
      </p:sp>
      <p:sp>
        <p:nvSpPr>
          <p:cNvPr id="8" name="">
            <a:extLst xmlns:a="http://schemas.openxmlformats.org/drawingml/2006/main">
              <a:ext uri="{FF2B5EF4-FFF2-40B4-BE49-F238E27FC236}">
                <a16:creationId xmlns:a16="http://schemas.microsoft.com/office/drawing/2014/main" id="{018D0443-135E-4C40-B7E5-AB52AE687743}"/>
              </a:ext>
            </a:extLst>
          </p:cNvPr>
          <p:cNvSpPr>
            <a:spLocks xmlns:a="http://schemas.openxmlformats.org/drawingml/2006/main" noGrp="1"/>
          </p:cNvSpPr>
          <p:nvPr/>
        </p:nvSpPr>
        <p:spPr>
          <a:xfrm xmlns:a="http://schemas.openxmlformats.org/drawingml/2006/main">
            <a:off x="609600" y="37909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Offer a focused 30-day evaluation</a:t>
            </a:r>
          </a:p>
        </p:txBody>
      </p:sp>
      <p:sp>
        <p:nvSpPr>
          <p:cNvPr id="9" name="">
            <a:extLst xmlns:a="http://schemas.openxmlformats.org/drawingml/2006/main">
              <a:ext uri="{FF2B5EF4-FFF2-40B4-BE49-F238E27FC236}">
                <a16:creationId xmlns:a16="http://schemas.microsoft.com/office/drawing/2014/main" id="{23BB427E-8E95-4154-972D-7548498428A5}"/>
              </a:ext>
            </a:extLst>
          </p:cNvPr>
          <p:cNvSpPr>
            <a:spLocks xmlns:a="http://schemas.openxmlformats.org/drawingml/2006/main" noGrp="1"/>
          </p:cNvSpPr>
          <p:nvPr/>
        </p:nvSpPr>
        <p:spPr>
          <a:xfrm xmlns:a="http://schemas.openxmlformats.org/drawingml/2006/main">
            <a:off x="609600" y="42005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Proposed $149 pilot with guided setup and a small set of eligible repair cases.</a:t>
            </a:r>
          </a:p>
        </p:txBody>
      </p:sp>
      <p:sp>
        <p:nvSpPr>
          <p:cNvPr id="10" name="">
            <a:extLst xmlns:a="http://schemas.openxmlformats.org/drawingml/2006/main">
              <a:ext uri="{FF2B5EF4-FFF2-40B4-BE49-F238E27FC236}">
                <a16:creationId xmlns:a16="http://schemas.microsoft.com/office/drawing/2014/main" id="{97D11DB8-8992-4530-88E1-BC33C6B4F6FA}"/>
              </a:ext>
            </a:extLst>
          </p:cNvPr>
          <p:cNvSpPr>
            <a:spLocks xmlns:a="http://schemas.openxmlformats.org/drawingml/2006/main" noGrp="1"/>
          </p:cNvSpPr>
          <p:nvPr/>
        </p:nvSpPr>
        <p:spPr>
          <a:xfrm xmlns:a="http://schemas.openxmlformats.org/drawingml/2006/main">
            <a:off x="609600" y="47720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Earn the ongoing subscription</a:t>
            </a:r>
          </a:p>
        </p:txBody>
      </p:sp>
      <p:sp>
        <p:nvSpPr>
          <p:cNvPr id="11" name="">
            <a:extLst xmlns:a="http://schemas.openxmlformats.org/drawingml/2006/main">
              <a:ext uri="{FF2B5EF4-FFF2-40B4-BE49-F238E27FC236}">
                <a16:creationId xmlns:a16="http://schemas.microsoft.com/office/drawing/2014/main" id="{29317272-4CEC-4987-A25F-8BB2D87FA903}"/>
              </a:ext>
            </a:extLst>
          </p:cNvPr>
          <p:cNvSpPr>
            <a:spLocks xmlns:a="http://schemas.openxmlformats.org/drawingml/2006/main" noGrp="1"/>
          </p:cNvSpPr>
          <p:nvPr/>
        </p:nvSpPr>
        <p:spPr>
          <a:xfrm xmlns:a="http://schemas.openxmlformats.org/drawingml/2006/main">
            <a:off x="609600" y="51816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Compare handling time, record completeness and repeat usage before renewal.</a:t>
            </a:r>
          </a:p>
        </p:txBody>
      </p:sp>
    </p:spTree>
    <p:extLst>
      <p:ext uri="{BB962C8B-B14F-4D97-AF65-F5344CB8AC3E}">
        <p14:creationId xmlns:p14="http://schemas.microsoft.com/office/powerpoint/2010/main" val="140890799"/>
      </p:ext>
    </p:extLst>
  </p:cSld>
</p:sld>
</file>

<file path=ppt/slides/slide12.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B31851-3FB1-4D44-A964-4E1CEA6849B3}"/>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7EF"/>
                </a:solidFill>
                <a:latin typeface="Segoe UI"/>
                <a:ea typeface="Segoe UI"/>
                <a:cs typeface="Segoe UI"/>
              </a:defRPr>
            </a:defPPr>
          </a:lstStyle>
          <a:p xmlns:a="http://schemas.openxmlformats.org/drawingml/2006/main">
            <a:pPr>
              <a:defRPr sz="1800" b="1">
                <a:solidFill>
                  <a:srgbClr val="F7F7EF"/>
                </a:solidFill>
                <a:latin typeface="Segoe UI"/>
                <a:ea typeface="Segoe UI"/>
                <a:cs typeface="Segoe UI"/>
              </a:defRPr>
            </a:pPr>
            <a:r>
              <a:rPr sz="1800" b="1">
                <a:solidFill>
                  <a:srgbClr val="F7F7EF"/>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D5889ED8-ADE3-40E6-AC50-4754F0263E80}"/>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D2EB8B"/>
                </a:solidFill>
                <a:latin typeface="Segoe UI"/>
                <a:ea typeface="Segoe UI"/>
                <a:cs typeface="Segoe UI"/>
              </a:defRPr>
            </a:defPPr>
          </a:lstStyle>
          <a:p xmlns:a="http://schemas.openxmlformats.org/drawingml/2006/main">
            <a:pPr>
              <a:defRPr sz="1050" b="1">
                <a:solidFill>
                  <a:srgbClr val="D2EB8B"/>
                </a:solidFill>
                <a:latin typeface="Segoe UI"/>
                <a:ea typeface="Segoe UI"/>
                <a:cs typeface="Segoe UI"/>
              </a:defRPr>
            </a:pPr>
            <a:r>
              <a:rPr sz="1050" b="1">
                <a:solidFill>
                  <a:srgbClr val="D2EB8B"/>
                </a:solidFill>
                <a:latin typeface="Segoe UI"/>
                <a:ea typeface="Segoe UI"/>
                <a:cs typeface="Segoe UI"/>
              </a:rPr>
              <a:t>11 / AI BUILD STORY</a:t>
            </a:r>
          </a:p>
        </p:txBody>
      </p:sp>
      <p:sp>
        <p:nvSpPr>
          <p:cNvPr id="3" name="">
            <a:extLst xmlns:a="http://schemas.openxmlformats.org/drawingml/2006/main">
              <a:ext uri="{FF2B5EF4-FFF2-40B4-BE49-F238E27FC236}">
                <a16:creationId xmlns:a16="http://schemas.microsoft.com/office/drawing/2014/main" id="{FF1B3AC8-6088-4B33-8CF1-D0AFD6D798FA}"/>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7F7EF"/>
                </a:solidFill>
                <a:latin typeface="Segoe UI"/>
                <a:ea typeface="Segoe UI"/>
                <a:cs typeface="Segoe UI"/>
              </a:defRPr>
            </a:defPPr>
          </a:lstStyle>
          <a:p xmlns:a="http://schemas.openxmlformats.org/drawingml/2006/main">
            <a:pPr>
              <a:defRPr sz="3900" b="1">
                <a:solidFill>
                  <a:srgbClr val="F7F7EF"/>
                </a:solidFill>
                <a:latin typeface="Segoe UI"/>
                <a:ea typeface="Segoe UI"/>
                <a:cs typeface="Segoe UI"/>
              </a:defRPr>
            </a:pPr>
            <a:r>
              <a:rPr sz="3900" b="1">
                <a:solidFill>
                  <a:srgbClr val="F7F7EF"/>
                </a:solidFill>
                <a:latin typeface="Segoe UI"/>
                <a:ea typeface="Segoe UI"/>
                <a:cs typeface="Segoe UI"/>
              </a:rPr>
              <a:t>AI helped move the idea into working software</a:t>
            </a:r>
          </a:p>
        </p:txBody>
      </p:sp>
      <p:sp>
        <p:nvSpPr>
          <p:cNvPr id="4" name="">
            <a:extLst xmlns:a="http://schemas.openxmlformats.org/drawingml/2006/main">
              <a:ext uri="{FF2B5EF4-FFF2-40B4-BE49-F238E27FC236}">
                <a16:creationId xmlns:a16="http://schemas.microsoft.com/office/drawing/2014/main" id="{9070A16C-661A-43C5-B7A6-86B14B9C70FF}"/>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DCCBF"/>
                </a:solidFill>
                <a:latin typeface="Segoe UI"/>
                <a:ea typeface="Segoe UI"/>
                <a:cs typeface="Segoe UI"/>
              </a:defRPr>
            </a:defPPr>
          </a:lstStyle>
          <a:p xmlns:a="http://schemas.openxmlformats.org/drawingml/2006/main">
            <a:pPr>
              <a:defRPr sz="900" b="0">
                <a:solidFill>
                  <a:srgbClr val="BDCCBF"/>
                </a:solidFill>
                <a:latin typeface="Segoe UI"/>
                <a:ea typeface="Segoe UI"/>
                <a:cs typeface="Segoe UI"/>
              </a:defRPr>
            </a:pPr>
            <a:r>
              <a:rPr sz="900" b="0">
                <a:solidFill>
                  <a:srgbClr val="BDCCBF"/>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EF184625-45BE-4A83-9EDA-E80A9D3C7EF3}"/>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DCCBF"/>
                </a:solidFill>
                <a:latin typeface="Segoe UI"/>
                <a:ea typeface="Segoe UI"/>
                <a:cs typeface="Segoe UI"/>
              </a:defRPr>
            </a:defPPr>
          </a:lstStyle>
          <a:p xmlns:a="http://schemas.openxmlformats.org/drawingml/2006/main">
            <a:pPr>
              <a:defRPr sz="900" b="0">
                <a:solidFill>
                  <a:srgbClr val="BDCCBF"/>
                </a:solidFill>
                <a:latin typeface="Segoe UI"/>
                <a:ea typeface="Segoe UI"/>
                <a:cs typeface="Segoe UI"/>
              </a:defRPr>
            </a:pPr>
            <a:r>
              <a:rPr sz="900" b="0">
                <a:solidFill>
                  <a:srgbClr val="BDCCBF"/>
                </a:solidFill>
                <a:latin typeface="Segoe UI"/>
                <a:ea typeface="Segoe UI"/>
                <a:cs typeface="Segoe UI"/>
              </a:rPr>
              <a:t>12</a:t>
            </a:r>
          </a:p>
        </p:txBody>
      </p:sp>
      <p:sp>
        <p:nvSpPr>
          <p:cNvPr id="6" name="">
            <a:extLst xmlns:a="http://schemas.openxmlformats.org/drawingml/2006/main">
              <a:ext uri="{FF2B5EF4-FFF2-40B4-BE49-F238E27FC236}">
                <a16:creationId xmlns:a16="http://schemas.microsoft.com/office/drawing/2014/main" id="{3D63C25E-DB7E-42EA-82F2-1B86A9FCCB7F}"/>
              </a:ext>
            </a:extLst>
          </p:cNvPr>
          <p:cNvSpPr>
            <a:spLocks xmlns:a="http://schemas.openxmlformats.org/drawingml/2006/main" noGrp="1"/>
          </p:cNvSpPr>
          <p:nvPr/>
        </p:nvSpPr>
        <p:spPr>
          <a:xfrm xmlns:a="http://schemas.openxmlformats.org/drawingml/2006/main">
            <a:off x="609600" y="2714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2EB8B"/>
                </a:solidFill>
                <a:latin typeface="Segoe UI"/>
                <a:ea typeface="Segoe UI"/>
                <a:cs typeface="Segoe UI"/>
              </a:defRPr>
            </a:defPPr>
          </a:lstStyle>
          <a:p xmlns:a="http://schemas.openxmlformats.org/drawingml/2006/main">
            <a:pPr>
              <a:defRPr sz="2175" b="1">
                <a:solidFill>
                  <a:srgbClr val="D2EB8B"/>
                </a:solidFill>
                <a:latin typeface="Segoe UI"/>
                <a:ea typeface="Segoe UI"/>
                <a:cs typeface="Segoe UI"/>
              </a:defRPr>
            </a:pPr>
            <a:r>
              <a:rPr sz="2175" b="1">
                <a:solidFill>
                  <a:srgbClr val="D2EB8B"/>
                </a:solidFill>
                <a:latin typeface="Segoe UI"/>
                <a:ea typeface="Segoe UI"/>
                <a:cs typeface="Segoe UI"/>
              </a:rPr>
              <a:t>Discovery and product definition</a:t>
            </a:r>
          </a:p>
        </p:txBody>
      </p:sp>
      <p:sp>
        <p:nvSpPr>
          <p:cNvPr id="7" name="">
            <a:extLst xmlns:a="http://schemas.openxmlformats.org/drawingml/2006/main">
              <a:ext uri="{FF2B5EF4-FFF2-40B4-BE49-F238E27FC236}">
                <a16:creationId xmlns:a16="http://schemas.microsoft.com/office/drawing/2014/main" id="{09710146-83F9-4DDB-89C9-47F3015C8490}"/>
              </a:ext>
            </a:extLst>
          </p:cNvPr>
          <p:cNvSpPr>
            <a:spLocks xmlns:a="http://schemas.openxmlformats.org/drawingml/2006/main" noGrp="1"/>
          </p:cNvSpPr>
          <p:nvPr/>
        </p:nvSpPr>
        <p:spPr>
          <a:xfrm xmlns:a="http://schemas.openxmlformats.org/drawingml/2006/main">
            <a:off x="609600" y="31242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CE5D4"/>
                </a:solidFill>
                <a:latin typeface="Segoe UI"/>
                <a:ea typeface="Segoe UI"/>
                <a:cs typeface="Segoe UI"/>
              </a:defRPr>
            </a:defPPr>
          </a:lstStyle>
          <a:p xmlns:a="http://schemas.openxmlformats.org/drawingml/2006/main">
            <a:pPr>
              <a:defRPr sz="1725" b="0">
                <a:solidFill>
                  <a:srgbClr val="DCE5D4"/>
                </a:solidFill>
                <a:latin typeface="Segoe UI"/>
                <a:ea typeface="Segoe UI"/>
                <a:cs typeface="Segoe UI"/>
              </a:defRPr>
            </a:pPr>
            <a:r>
              <a:rPr sz="1725" b="0">
                <a:solidFill>
                  <a:srgbClr val="DCE5D4"/>
                </a:solidFill>
                <a:latin typeface="Segoe UI"/>
                <a:ea typeface="Segoe UI"/>
                <a:cs typeface="Segoe UI"/>
              </a:rPr>
              <a:t>Explored serial capture, unit records, positioning and requirements.</a:t>
            </a:r>
          </a:p>
        </p:txBody>
      </p:sp>
      <p:sp>
        <p:nvSpPr>
          <p:cNvPr id="8" name="">
            <a:extLst xmlns:a="http://schemas.openxmlformats.org/drawingml/2006/main">
              <a:ext uri="{FF2B5EF4-FFF2-40B4-BE49-F238E27FC236}">
                <a16:creationId xmlns:a16="http://schemas.microsoft.com/office/drawing/2014/main" id="{C5884A99-B321-456A-9100-F612CD34F509}"/>
              </a:ext>
            </a:extLst>
          </p:cNvPr>
          <p:cNvSpPr>
            <a:spLocks xmlns:a="http://schemas.openxmlformats.org/drawingml/2006/main" noGrp="1"/>
          </p:cNvSpPr>
          <p:nvPr/>
        </p:nvSpPr>
        <p:spPr>
          <a:xfrm xmlns:a="http://schemas.openxmlformats.org/drawingml/2006/main">
            <a:off x="609600" y="37623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2EB8B"/>
                </a:solidFill>
                <a:latin typeface="Segoe UI"/>
                <a:ea typeface="Segoe UI"/>
                <a:cs typeface="Segoe UI"/>
              </a:defRPr>
            </a:defPPr>
          </a:lstStyle>
          <a:p xmlns:a="http://schemas.openxmlformats.org/drawingml/2006/main">
            <a:pPr>
              <a:defRPr sz="2175" b="1">
                <a:solidFill>
                  <a:srgbClr val="D2EB8B"/>
                </a:solidFill>
                <a:latin typeface="Segoe UI"/>
                <a:ea typeface="Segoe UI"/>
                <a:cs typeface="Segoe UI"/>
              </a:defRPr>
            </a:pPr>
            <a:r>
              <a:rPr sz="2175" b="1">
                <a:solidFill>
                  <a:srgbClr val="D2EB8B"/>
                </a:solidFill>
                <a:latin typeface="Segoe UI"/>
                <a:ea typeface="Segoe UI"/>
                <a:cs typeface="Segoe UI"/>
              </a:rPr>
              <a:t>Brand and interaction design</a:t>
            </a:r>
          </a:p>
        </p:txBody>
      </p:sp>
      <p:sp>
        <p:nvSpPr>
          <p:cNvPr id="9" name="">
            <a:extLst xmlns:a="http://schemas.openxmlformats.org/drawingml/2006/main">
              <a:ext uri="{FF2B5EF4-FFF2-40B4-BE49-F238E27FC236}">
                <a16:creationId xmlns:a16="http://schemas.microsoft.com/office/drawing/2014/main" id="{0E200212-A30C-4A8C-BF3F-44150D1F36CA}"/>
              </a:ext>
            </a:extLst>
          </p:cNvPr>
          <p:cNvSpPr>
            <a:spLocks xmlns:a="http://schemas.openxmlformats.org/drawingml/2006/main" noGrp="1"/>
          </p:cNvSpPr>
          <p:nvPr/>
        </p:nvSpPr>
        <p:spPr>
          <a:xfrm xmlns:a="http://schemas.openxmlformats.org/drawingml/2006/main">
            <a:off x="609600" y="41719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CE5D4"/>
                </a:solidFill>
                <a:latin typeface="Segoe UI"/>
                <a:ea typeface="Segoe UI"/>
                <a:cs typeface="Segoe UI"/>
              </a:defRPr>
            </a:defPPr>
          </a:lstStyle>
          <a:p xmlns:a="http://schemas.openxmlformats.org/drawingml/2006/main">
            <a:pPr>
              <a:defRPr sz="1725" b="0">
                <a:solidFill>
                  <a:srgbClr val="DCE5D4"/>
                </a:solidFill>
                <a:latin typeface="Segoe UI"/>
                <a:ea typeface="Segoe UI"/>
                <a:cs typeface="Segoe UI"/>
              </a:defRPr>
            </a:pPr>
            <a:r>
              <a:rPr sz="1725" b="0">
                <a:solidFill>
                  <a:srgbClr val="DCE5D4"/>
                </a:solidFill>
                <a:latin typeface="Segoe UI"/>
                <a:ea typeface="Segoe UI"/>
                <a:cs typeface="Segoe UI"/>
              </a:rPr>
              <a:t>Iterated names, visual identity, landing page and mobile walkthrough.</a:t>
            </a:r>
          </a:p>
        </p:txBody>
      </p:sp>
      <p:sp>
        <p:nvSpPr>
          <p:cNvPr id="10" name="">
            <a:extLst xmlns:a="http://schemas.openxmlformats.org/drawingml/2006/main">
              <a:ext uri="{FF2B5EF4-FFF2-40B4-BE49-F238E27FC236}">
                <a16:creationId xmlns:a16="http://schemas.microsoft.com/office/drawing/2014/main" id="{98F58E1E-40F3-443A-BDBB-E99ABFA59B2D}"/>
              </a:ext>
            </a:extLst>
          </p:cNvPr>
          <p:cNvSpPr>
            <a:spLocks xmlns:a="http://schemas.openxmlformats.org/drawingml/2006/main" noGrp="1"/>
          </p:cNvSpPr>
          <p:nvPr/>
        </p:nvSpPr>
        <p:spPr>
          <a:xfrm xmlns:a="http://schemas.openxmlformats.org/drawingml/2006/main">
            <a:off x="609600" y="481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D2EB8B"/>
                </a:solidFill>
                <a:latin typeface="Segoe UI"/>
                <a:ea typeface="Segoe UI"/>
                <a:cs typeface="Segoe UI"/>
              </a:defRPr>
            </a:defPPr>
          </a:lstStyle>
          <a:p xmlns:a="http://schemas.openxmlformats.org/drawingml/2006/main">
            <a:pPr>
              <a:defRPr sz="2175" b="1">
                <a:solidFill>
                  <a:srgbClr val="D2EB8B"/>
                </a:solidFill>
                <a:latin typeface="Segoe UI"/>
                <a:ea typeface="Segoe UI"/>
                <a:cs typeface="Segoe UI"/>
              </a:defRPr>
            </a:pPr>
            <a:r>
              <a:rPr sz="2175" b="1">
                <a:solidFill>
                  <a:srgbClr val="D2EB8B"/>
                </a:solidFill>
                <a:latin typeface="Segoe UI"/>
                <a:ea typeface="Segoe UI"/>
                <a:cs typeface="Segoe UI"/>
              </a:rPr>
              <a:t>Implementation and validation</a:t>
            </a:r>
          </a:p>
        </p:txBody>
      </p:sp>
      <p:sp>
        <p:nvSpPr>
          <p:cNvPr id="11" name="">
            <a:extLst xmlns:a="http://schemas.openxmlformats.org/drawingml/2006/main">
              <a:ext uri="{FF2B5EF4-FFF2-40B4-BE49-F238E27FC236}">
                <a16:creationId xmlns:a16="http://schemas.microsoft.com/office/drawing/2014/main" id="{332F5474-0C9C-4CF7-BE05-F1AC69EC2C6E}"/>
              </a:ext>
            </a:extLst>
          </p:cNvPr>
          <p:cNvSpPr>
            <a:spLocks xmlns:a="http://schemas.openxmlformats.org/drawingml/2006/main" noGrp="1"/>
          </p:cNvSpPr>
          <p:nvPr/>
        </p:nvSpPr>
        <p:spPr>
          <a:xfrm xmlns:a="http://schemas.openxmlformats.org/drawingml/2006/main">
            <a:off x="609600" y="52197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CE5D4"/>
                </a:solidFill>
                <a:latin typeface="Segoe UI"/>
                <a:ea typeface="Segoe UI"/>
                <a:cs typeface="Segoe UI"/>
              </a:defRPr>
            </a:defPPr>
          </a:lstStyle>
          <a:p xmlns:a="http://schemas.openxmlformats.org/drawingml/2006/main">
            <a:pPr>
              <a:defRPr sz="1725" b="0">
                <a:solidFill>
                  <a:srgbClr val="DCE5D4"/>
                </a:solidFill>
                <a:latin typeface="Segoe UI"/>
                <a:ea typeface="Segoe UI"/>
                <a:cs typeface="Segoe UI"/>
              </a:defRPr>
            </a:pPr>
            <a:r>
              <a:rPr sz="1725" b="0">
                <a:solidFill>
                  <a:srgbClr val="DCE5D4"/>
                </a:solidFill>
                <a:latin typeface="Segoe UI"/>
                <a:ea typeface="Segoe UI"/>
                <a:cs typeface="Segoe UI"/>
              </a:rPr>
              <a:t>Built the web app, camera/OCR flow, installer, tests and deployment changes.</a:t>
            </a:r>
          </a:p>
        </p:txBody>
      </p:sp>
    </p:spTree>
    <p:extLst>
      <p:ext uri="{BB962C8B-B14F-4D97-AF65-F5344CB8AC3E}">
        <p14:creationId xmlns:p14="http://schemas.microsoft.com/office/powerpoint/2010/main" val="854864487"/>
      </p:ext>
    </p:extLst>
  </p:cSld>
</p:sld>
</file>

<file path=ppt/slides/slide13.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ABF786-E872-42E7-9998-FD86D9026E45}"/>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67A5B97D-15DC-44D5-9059-2FCE0C25483E}"/>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12 / BUILD PROCESS</a:t>
            </a:r>
          </a:p>
        </p:txBody>
      </p:sp>
      <p:sp>
        <p:nvSpPr>
          <p:cNvPr id="3" name="">
            <a:extLst xmlns:a="http://schemas.openxmlformats.org/drawingml/2006/main">
              <a:ext uri="{FF2B5EF4-FFF2-40B4-BE49-F238E27FC236}">
                <a16:creationId xmlns:a16="http://schemas.microsoft.com/office/drawing/2014/main" id="{BA3F177D-7B0B-41E4-9434-C384FD2819EC}"/>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Human decisions kept the build grounded</a:t>
            </a:r>
          </a:p>
        </p:txBody>
      </p:sp>
      <p:sp>
        <p:nvSpPr>
          <p:cNvPr id="4" name="">
            <a:extLst xmlns:a="http://schemas.openxmlformats.org/drawingml/2006/main">
              <a:ext uri="{FF2B5EF4-FFF2-40B4-BE49-F238E27FC236}">
                <a16:creationId xmlns:a16="http://schemas.microsoft.com/office/drawing/2014/main" id="{2E5DF64A-1D27-49A1-ABEF-4BBD4F01CF32}"/>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CD729D26-6B7B-4C12-8077-156852B96AE9}"/>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13</a:t>
            </a:r>
          </a:p>
        </p:txBody>
      </p:sp>
      <p:sp>
        <p:nvSpPr>
          <p:cNvPr id="6" name="">
            <a:extLst xmlns:a="http://schemas.openxmlformats.org/drawingml/2006/main">
              <a:ext uri="{FF2B5EF4-FFF2-40B4-BE49-F238E27FC236}">
                <a16:creationId xmlns:a16="http://schemas.microsoft.com/office/drawing/2014/main" id="{A892117A-B243-4D0C-A0C2-CFB3AB2F471B}"/>
              </a:ext>
            </a:extLst>
          </p:cNvPr>
          <p:cNvSpPr>
            <a:spLocks xmlns:a="http://schemas.openxmlformats.org/drawingml/2006/main" noGrp="1"/>
          </p:cNvSpPr>
          <p:nvPr/>
        </p:nvSpPr>
        <p:spPr>
          <a:xfrm xmlns:a="http://schemas.openxmlformats.org/drawingml/2006/main">
            <a:off x="609600" y="27622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F35"/>
                </a:solidFill>
                <a:latin typeface="Segoe UI"/>
                <a:ea typeface="Segoe UI"/>
                <a:cs typeface="Segoe UI"/>
              </a:defRPr>
            </a:defPPr>
          </a:lstStyle>
          <a:p xmlns:a="http://schemas.openxmlformats.org/drawingml/2006/main">
            <a:pPr>
              <a:defRPr sz="2400" b="1">
                <a:solidFill>
                  <a:srgbClr val="173F35"/>
                </a:solidFill>
                <a:latin typeface="Segoe UI"/>
                <a:ea typeface="Segoe UI"/>
                <a:cs typeface="Segoe UI"/>
              </a:defRPr>
            </a:pPr>
            <a:r>
              <a:rPr sz="2400" b="1">
                <a:solidFill>
                  <a:srgbClr val="173F35"/>
                </a:solidFill>
                <a:latin typeface="Segoe UI"/>
                <a:ea typeface="Segoe UI"/>
                <a:cs typeface="Segoe UI"/>
              </a:rPr>
              <a:t>AI contribution</a:t>
            </a:r>
          </a:p>
        </p:txBody>
      </p:sp>
      <p:sp>
        <p:nvSpPr>
          <p:cNvPr id="7" name="">
            <a:extLst xmlns:a="http://schemas.openxmlformats.org/drawingml/2006/main">
              <a:ext uri="{FF2B5EF4-FFF2-40B4-BE49-F238E27FC236}">
                <a16:creationId xmlns:a16="http://schemas.microsoft.com/office/drawing/2014/main" id="{EA72CF9A-8056-417C-AE31-76C3345BCCD2}"/>
              </a:ext>
            </a:extLst>
          </p:cNvPr>
          <p:cNvSpPr>
            <a:spLocks xmlns:a="http://schemas.openxmlformats.org/drawingml/2006/main" noGrp="1"/>
          </p:cNvSpPr>
          <p:nvPr/>
        </p:nvSpPr>
        <p:spPr>
          <a:xfrm xmlns:a="http://schemas.openxmlformats.org/drawingml/2006/main">
            <a:off x="609600" y="3419475"/>
            <a:ext cx="52387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27568"/>
                </a:solidFill>
                <a:latin typeface="Segoe UI"/>
                <a:ea typeface="Segoe UI"/>
                <a:cs typeface="Segoe UI"/>
              </a:defRPr>
            </a:defPPr>
          </a:lstStyle>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Drafted requirements and code</a:t>
            </a:r>
          </a:p>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Created editable design assets</a:t>
            </a:r>
          </a:p>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Investigated failures</a:t>
            </a:r>
          </a:p>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Ran checks and deployed changes</a:t>
            </a:r>
          </a:p>
        </p:txBody>
      </p:sp>
      <p:sp>
        <p:nvSpPr>
          <p:cNvPr id="8" name="">
            <a:extLst xmlns:a="http://schemas.openxmlformats.org/drawingml/2006/main">
              <a:ext uri="{FF2B5EF4-FFF2-40B4-BE49-F238E27FC236}">
                <a16:creationId xmlns:a16="http://schemas.microsoft.com/office/drawing/2014/main" id="{1944CC82-83C6-4C01-B9CD-1CC2238B60EB}"/>
              </a:ext>
            </a:extLst>
          </p:cNvPr>
          <p:cNvSpPr>
            <a:spLocks xmlns:a="http://schemas.openxmlformats.org/drawingml/2006/main" noGrp="1"/>
          </p:cNvSpPr>
          <p:nvPr/>
        </p:nvSpPr>
        <p:spPr>
          <a:xfrm xmlns:a="http://schemas.openxmlformats.org/drawingml/2006/main">
            <a:off x="6762750" y="27622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F35"/>
                </a:solidFill>
                <a:latin typeface="Segoe UI"/>
                <a:ea typeface="Segoe UI"/>
                <a:cs typeface="Segoe UI"/>
              </a:defRPr>
            </a:defPPr>
          </a:lstStyle>
          <a:p xmlns:a="http://schemas.openxmlformats.org/drawingml/2006/main">
            <a:pPr>
              <a:defRPr sz="2400" b="1">
                <a:solidFill>
                  <a:srgbClr val="173F35"/>
                </a:solidFill>
                <a:latin typeface="Segoe UI"/>
                <a:ea typeface="Segoe UI"/>
                <a:cs typeface="Segoe UI"/>
              </a:defRPr>
            </a:pPr>
            <a:r>
              <a:rPr sz="2400" b="1">
                <a:solidFill>
                  <a:srgbClr val="173F35"/>
                </a:solidFill>
                <a:latin typeface="Segoe UI"/>
                <a:ea typeface="Segoe UI"/>
                <a:cs typeface="Segoe UI"/>
              </a:rPr>
              <a:t>Human contribution</a:t>
            </a:r>
          </a:p>
        </p:txBody>
      </p:sp>
      <p:sp>
        <p:nvSpPr>
          <p:cNvPr id="9" name="">
            <a:extLst xmlns:a="http://schemas.openxmlformats.org/drawingml/2006/main">
              <a:ext uri="{FF2B5EF4-FFF2-40B4-BE49-F238E27FC236}">
                <a16:creationId xmlns:a16="http://schemas.microsoft.com/office/drawing/2014/main" id="{714E3A36-5421-42F3-9C72-F48EE6048F16}"/>
              </a:ext>
            </a:extLst>
          </p:cNvPr>
          <p:cNvSpPr>
            <a:spLocks xmlns:a="http://schemas.openxmlformats.org/drawingml/2006/main" noGrp="1"/>
          </p:cNvSpPr>
          <p:nvPr/>
        </p:nvSpPr>
        <p:spPr>
          <a:xfrm xmlns:a="http://schemas.openxmlformats.org/drawingml/2006/main">
            <a:off x="6762750" y="3419475"/>
            <a:ext cx="48577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27568"/>
                </a:solidFill>
                <a:latin typeface="Segoe UI"/>
                <a:ea typeface="Segoe UI"/>
                <a:cs typeface="Segoe UI"/>
              </a:defRPr>
            </a:defPPr>
          </a:lstStyle>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Selected the problem and brand</a:t>
            </a:r>
          </a:p>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Challenged weak design</a:t>
            </a:r>
          </a:p>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Confirmed webcam preview</a:t>
            </a:r>
          </a:p>
          <a:p xmlns:a="http://schemas.openxmlformats.org/drawingml/2006/main">
            <a:pPr>
              <a:defRPr sz="2175" b="0">
                <a:solidFill>
                  <a:srgbClr val="627568"/>
                </a:solidFill>
                <a:latin typeface="Segoe UI"/>
                <a:ea typeface="Segoe UI"/>
                <a:cs typeface="Segoe UI"/>
              </a:defRPr>
            </a:pPr>
            <a:r>
              <a:rPr sz="2175" b="0">
                <a:solidFill>
                  <a:srgbClr val="627568"/>
                </a:solidFill>
                <a:latin typeface="Segoe UI"/>
                <a:ea typeface="Segoe UI"/>
                <a:cs typeface="Segoe UI"/>
              </a:rPr>
              <a:t>Chose the animation fallback</a:t>
            </a:r>
          </a:p>
        </p:txBody>
      </p:sp>
      <p:sp>
        <p:nvSpPr>
          <p:cNvPr id="10" name="">
            <a:extLst xmlns:a="http://schemas.openxmlformats.org/drawingml/2006/main">
              <a:ext uri="{FF2B5EF4-FFF2-40B4-BE49-F238E27FC236}">
                <a16:creationId xmlns:a16="http://schemas.microsoft.com/office/drawing/2014/main" id="{1053D958-127D-4B34-8149-A5FFAA306A60}"/>
              </a:ext>
            </a:extLst>
          </p:cNvPr>
          <p:cNvSpPr>
            <a:spLocks xmlns:a="http://schemas.openxmlformats.org/drawingml/2006/main" noGrp="1"/>
          </p:cNvSpPr>
          <p:nvPr/>
        </p:nvSpPr>
        <p:spPr>
          <a:xfrm xmlns:a="http://schemas.openxmlformats.org/drawingml/2006/main">
            <a:off x="609600" y="5610225"/>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27568"/>
                </a:solidFill>
                <a:latin typeface="Segoe UI"/>
                <a:ea typeface="Segoe UI"/>
                <a:cs typeface="Segoe UI"/>
              </a:defRPr>
            </a:defPPr>
          </a:lstStyle>
          <a:p xmlns:a="http://schemas.openxmlformats.org/drawingml/2006/main">
            <a:pPr>
              <a:defRPr sz="1425" b="0">
                <a:solidFill>
                  <a:srgbClr val="627568"/>
                </a:solidFill>
                <a:latin typeface="Segoe UI"/>
                <a:ea typeface="Segoe UI"/>
                <a:cs typeface="Segoe UI"/>
              </a:defRPr>
            </a:pPr>
            <a:r>
              <a:rPr sz="1425" b="0">
                <a:solidFill>
                  <a:srgbClr val="627568"/>
                </a:solidFill>
                <a:latin typeface="Segoe UI"/>
                <a:ea typeface="Segoe UI"/>
                <a:cs typeface="Segoe UI"/>
              </a:rPr>
              <a:t>A real constraint: Higgsfield generation was unavailable on the account plan.</a:t>
            </a:r>
          </a:p>
          <a:p xmlns:a="http://schemas.openxmlformats.org/drawingml/2006/main">
            <a:pPr>
              <a:defRPr sz="1425" b="0">
                <a:solidFill>
                  <a:srgbClr val="627568"/>
                </a:solidFill>
                <a:latin typeface="Segoe UI"/>
                <a:ea typeface="Segoe UI"/>
                <a:cs typeface="Segoe UI"/>
              </a:defRPr>
            </a:pPr>
            <a:r>
              <a:rPr sz="1425" b="0">
                <a:solidFill>
                  <a:srgbClr val="627568"/>
                </a:solidFill>
                <a:latin typeface="Segoe UI"/>
                <a:ea typeface="Segoe UI"/>
                <a:cs typeface="Segoe UI"/>
              </a:rPr>
              <a:t>We built a custom 10-second web animation instead.</a:t>
            </a:r>
          </a:p>
        </p:txBody>
      </p:sp>
    </p:spTree>
    <p:extLst>
      <p:ext uri="{BB962C8B-B14F-4D97-AF65-F5344CB8AC3E}">
        <p14:creationId xmlns:p14="http://schemas.microsoft.com/office/powerpoint/2010/main" val="904678686"/>
      </p:ext>
    </p:extLst>
  </p:cSld>
</p:sld>
</file>

<file path=ppt/slides/slide14.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185F17-77AF-4DB0-9EB3-62E07EDEFE0E}"/>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51EE532E-838F-4B52-AEA4-407A99B3A705}"/>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13 / PRODUCT ROADMAP</a:t>
            </a:r>
          </a:p>
        </p:txBody>
      </p:sp>
      <p:sp>
        <p:nvSpPr>
          <p:cNvPr id="3" name="">
            <a:extLst xmlns:a="http://schemas.openxmlformats.org/drawingml/2006/main">
              <a:ext uri="{FF2B5EF4-FFF2-40B4-BE49-F238E27FC236}">
                <a16:creationId xmlns:a16="http://schemas.microsoft.com/office/drawing/2014/main" id="{84462B5B-4687-4DB4-BB4D-0553546E9D03}"/>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A digital assistant, grounded in the record</a:t>
            </a:r>
          </a:p>
        </p:txBody>
      </p:sp>
      <p:sp>
        <p:nvSpPr>
          <p:cNvPr id="4" name="">
            <a:extLst xmlns:a="http://schemas.openxmlformats.org/drawingml/2006/main">
              <a:ext uri="{FF2B5EF4-FFF2-40B4-BE49-F238E27FC236}">
                <a16:creationId xmlns:a16="http://schemas.microsoft.com/office/drawing/2014/main" id="{70EA5C66-B3CF-412A-9073-D06D21681458}"/>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D523420C-EB86-4AE9-B63B-43DA8E2ECF7C}"/>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14</a:t>
            </a:r>
          </a:p>
        </p:txBody>
      </p:sp>
      <p:sp>
        <p:nvSpPr>
          <p:cNvPr id="6" name="">
            <a:extLst xmlns:a="http://schemas.openxmlformats.org/drawingml/2006/main">
              <a:ext uri="{FF2B5EF4-FFF2-40B4-BE49-F238E27FC236}">
                <a16:creationId xmlns:a16="http://schemas.microsoft.com/office/drawing/2014/main" id="{89B1163B-1B76-4F79-92F8-A136B5200445}"/>
              </a:ext>
            </a:extLst>
          </p:cNvPr>
          <p:cNvSpPr>
            <a:spLocks xmlns:a="http://schemas.openxmlformats.org/drawingml/2006/main" noGrp="1"/>
          </p:cNvSpPr>
          <p:nvPr/>
        </p:nvSpPr>
        <p:spPr>
          <a:xfrm xmlns:a="http://schemas.openxmlformats.org/drawingml/2006/main">
            <a:off x="609600" y="28098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First: prepare a shared workspace</a:t>
            </a:r>
          </a:p>
        </p:txBody>
      </p:sp>
      <p:sp>
        <p:nvSpPr>
          <p:cNvPr id="7" name="">
            <a:extLst xmlns:a="http://schemas.openxmlformats.org/drawingml/2006/main">
              <a:ext uri="{FF2B5EF4-FFF2-40B4-BE49-F238E27FC236}">
                <a16:creationId xmlns:a16="http://schemas.microsoft.com/office/drawing/2014/main" id="{FF416AA8-C061-4606-85CD-7B056F68890F}"/>
              </a:ext>
            </a:extLst>
          </p:cNvPr>
          <p:cNvSpPr>
            <a:spLocks xmlns:a="http://schemas.openxmlformats.org/drawingml/2006/main" noGrp="1"/>
          </p:cNvSpPr>
          <p:nvPr/>
        </p:nvSpPr>
        <p:spPr>
          <a:xfrm xmlns:a="http://schemas.openxmlformats.org/drawingml/2006/main">
            <a:off x="609600" y="32194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Add authentication, organization permissions, sync, audit trails and billing.</a:t>
            </a:r>
          </a:p>
        </p:txBody>
      </p:sp>
      <p:sp>
        <p:nvSpPr>
          <p:cNvPr id="8" name="">
            <a:extLst xmlns:a="http://schemas.openxmlformats.org/drawingml/2006/main">
              <a:ext uri="{FF2B5EF4-FFF2-40B4-BE49-F238E27FC236}">
                <a16:creationId xmlns:a16="http://schemas.microsoft.com/office/drawing/2014/main" id="{9A76310A-C403-463B-AA46-7B0053F11F34}"/>
              </a:ext>
            </a:extLst>
          </p:cNvPr>
          <p:cNvSpPr>
            <a:spLocks xmlns:a="http://schemas.openxmlformats.org/drawingml/2006/main" noGrp="1"/>
          </p:cNvSpPr>
          <p:nvPr/>
        </p:nvSpPr>
        <p:spPr>
          <a:xfrm xmlns:a="http://schemas.openxmlformats.org/drawingml/2006/main">
            <a:off x="609600" y="37909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Then: assist the coordinator</a:t>
            </a:r>
          </a:p>
        </p:txBody>
      </p:sp>
      <p:sp>
        <p:nvSpPr>
          <p:cNvPr id="9" name="">
            <a:extLst xmlns:a="http://schemas.openxmlformats.org/drawingml/2006/main">
              <a:ext uri="{FF2B5EF4-FFF2-40B4-BE49-F238E27FC236}">
                <a16:creationId xmlns:a16="http://schemas.microsoft.com/office/drawing/2014/main" id="{C2B849E0-FAF8-4A65-95B2-644A98FFC767}"/>
              </a:ext>
            </a:extLst>
          </p:cNvPr>
          <p:cNvSpPr>
            <a:spLocks xmlns:a="http://schemas.openxmlformats.org/drawingml/2006/main" noGrp="1"/>
          </p:cNvSpPr>
          <p:nvPr/>
        </p:nvSpPr>
        <p:spPr>
          <a:xfrm xmlns:a="http://schemas.openxmlformats.org/drawingml/2006/main">
            <a:off x="609600" y="42005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Summarize unit history, flag missing identifiers and draft request details.</a:t>
            </a:r>
          </a:p>
        </p:txBody>
      </p:sp>
      <p:sp>
        <p:nvSpPr>
          <p:cNvPr id="10" name="">
            <a:extLst xmlns:a="http://schemas.openxmlformats.org/drawingml/2006/main">
              <a:ext uri="{FF2B5EF4-FFF2-40B4-BE49-F238E27FC236}">
                <a16:creationId xmlns:a16="http://schemas.microsoft.com/office/drawing/2014/main" id="{2F798864-4307-4F0C-8CFA-5CA0B3930118}"/>
              </a:ext>
            </a:extLst>
          </p:cNvPr>
          <p:cNvSpPr>
            <a:spLocks xmlns:a="http://schemas.openxmlformats.org/drawingml/2006/main" noGrp="1"/>
          </p:cNvSpPr>
          <p:nvPr/>
        </p:nvSpPr>
        <p:spPr>
          <a:xfrm xmlns:a="http://schemas.openxmlformats.org/drawingml/2006/main">
            <a:off x="609600" y="47720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F35"/>
                </a:solidFill>
                <a:latin typeface="Segoe UI"/>
                <a:ea typeface="Segoe UI"/>
                <a:cs typeface="Segoe UI"/>
              </a:defRPr>
            </a:defPPr>
          </a:lstStyle>
          <a:p xmlns:a="http://schemas.openxmlformats.org/drawingml/2006/main">
            <a:pPr>
              <a:defRPr sz="2175" b="1">
                <a:solidFill>
                  <a:srgbClr val="173F35"/>
                </a:solidFill>
                <a:latin typeface="Segoe UI"/>
                <a:ea typeface="Segoe UI"/>
                <a:cs typeface="Segoe UI"/>
              </a:defRPr>
            </a:pPr>
            <a:r>
              <a:rPr sz="2175" b="1">
                <a:solidFill>
                  <a:srgbClr val="173F35"/>
                </a:solidFill>
                <a:latin typeface="Segoe UI"/>
                <a:ea typeface="Segoe UI"/>
                <a:cs typeface="Segoe UI"/>
              </a:rPr>
              <a:t>Keep people in control</a:t>
            </a:r>
          </a:p>
        </p:txBody>
      </p:sp>
      <p:sp>
        <p:nvSpPr>
          <p:cNvPr id="11" name="">
            <a:extLst xmlns:a="http://schemas.openxmlformats.org/drawingml/2006/main">
              <a:ext uri="{FF2B5EF4-FFF2-40B4-BE49-F238E27FC236}">
                <a16:creationId xmlns:a16="http://schemas.microsoft.com/office/drawing/2014/main" id="{6A94DE47-A887-4515-BC4C-13809D82100C}"/>
              </a:ext>
            </a:extLst>
          </p:cNvPr>
          <p:cNvSpPr>
            <a:spLocks xmlns:a="http://schemas.openxmlformats.org/drawingml/2006/main" noGrp="1"/>
          </p:cNvSpPr>
          <p:nvPr/>
        </p:nvSpPr>
        <p:spPr>
          <a:xfrm xmlns:a="http://schemas.openxmlformats.org/drawingml/2006/main">
            <a:off x="609600" y="51816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568"/>
                </a:solidFill>
                <a:latin typeface="Segoe UI"/>
                <a:ea typeface="Segoe UI"/>
                <a:cs typeface="Segoe UI"/>
              </a:defRPr>
            </a:defPPr>
          </a:lstStyle>
          <a:p xmlns:a="http://schemas.openxmlformats.org/drawingml/2006/main">
            <a:pPr>
              <a:defRPr sz="1725" b="0">
                <a:solidFill>
                  <a:srgbClr val="627568"/>
                </a:solidFill>
                <a:latin typeface="Segoe UI"/>
                <a:ea typeface="Segoe UI"/>
                <a:cs typeface="Segoe UI"/>
              </a:defRPr>
            </a:pPr>
            <a:r>
              <a:rPr sz="1725" b="0">
                <a:solidFill>
                  <a:srgbClr val="627568"/>
                </a:solidFill>
                <a:latin typeface="Segoe UI"/>
                <a:ea typeface="Segoe UI"/>
                <a:cs typeface="Segoe UI"/>
              </a:rPr>
              <a:t>Show source records. Require confirmation before messages, approvals or purchases.</a:t>
            </a:r>
          </a:p>
        </p:txBody>
      </p:sp>
    </p:spTree>
    <p:extLst>
      <p:ext uri="{BB962C8B-B14F-4D97-AF65-F5344CB8AC3E}">
        <p14:creationId xmlns:p14="http://schemas.microsoft.com/office/powerpoint/2010/main" val="1207909761"/>
      </p:ext>
    </p:extLst>
  </p:cSld>
</p:sld>
</file>

<file path=ppt/slides/slide15.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7E713E-2609-4E12-91A7-81391EA7D08E}"/>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3B283664-504E-4720-9802-62B50D6DD27C}"/>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14 / NEXT MILESTONE</a:t>
            </a:r>
          </a:p>
        </p:txBody>
      </p:sp>
      <p:sp>
        <p:nvSpPr>
          <p:cNvPr id="3" name="">
            <a:extLst xmlns:a="http://schemas.openxmlformats.org/drawingml/2006/main">
              <a:ext uri="{FF2B5EF4-FFF2-40B4-BE49-F238E27FC236}">
                <a16:creationId xmlns:a16="http://schemas.microsoft.com/office/drawing/2014/main" id="{390301B1-9C1F-4944-81DC-80F40B15F2E6}"/>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The next proof comes from real repair cases</a:t>
            </a:r>
          </a:p>
        </p:txBody>
      </p:sp>
      <p:sp>
        <p:nvSpPr>
          <p:cNvPr id="4" name="">
            <a:extLst xmlns:a="http://schemas.openxmlformats.org/drawingml/2006/main">
              <a:ext uri="{FF2B5EF4-FFF2-40B4-BE49-F238E27FC236}">
                <a16:creationId xmlns:a16="http://schemas.microsoft.com/office/drawing/2014/main" id="{29A13220-462E-4D61-90DD-583B07640C54}"/>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9D1FEF69-DB96-40A6-A5D4-5E7F83FF3749}"/>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15</a:t>
            </a:r>
          </a:p>
        </p:txBody>
      </p:sp>
      <p:sp>
        <p:nvSpPr>
          <p:cNvPr id="6" name="">
            <a:extLst xmlns:a="http://schemas.openxmlformats.org/drawingml/2006/main">
              <a:ext uri="{FF2B5EF4-FFF2-40B4-BE49-F238E27FC236}">
                <a16:creationId xmlns:a16="http://schemas.microsoft.com/office/drawing/2014/main" id="{C58BBACD-B926-4A44-98C7-B272E9A785CE}"/>
              </a:ext>
            </a:extLst>
          </p:cNvPr>
          <p:cNvSpPr>
            <a:spLocks xmlns:a="http://schemas.openxmlformats.org/drawingml/2006/main" noGrp="1"/>
          </p:cNvSpPr>
          <p:nvPr/>
        </p:nvSpPr>
        <p:spPr>
          <a:xfrm xmlns:a="http://schemas.openxmlformats.org/drawingml/2006/main">
            <a:off x="609600" y="28860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173F35"/>
                </a:solidFill>
                <a:latin typeface="Segoe UI"/>
                <a:ea typeface="Segoe UI"/>
                <a:cs typeface="Segoe UI"/>
              </a:defRPr>
            </a:defPPr>
          </a:lstStyle>
          <a:p xmlns:a="http://schemas.openxmlformats.org/drawingml/2006/main">
            <a:pPr>
              <a:defRPr sz="5400" b="1">
                <a:solidFill>
                  <a:srgbClr val="173F35"/>
                </a:solidFill>
                <a:latin typeface="Segoe UI"/>
                <a:ea typeface="Segoe UI"/>
                <a:cs typeface="Segoe UI"/>
              </a:defRPr>
            </a:pPr>
            <a:r>
              <a:rPr sz="5400" b="1">
                <a:solidFill>
                  <a:srgbClr val="173F35"/>
                </a:solidFill>
                <a:latin typeface="Segoe UI"/>
                <a:ea typeface="Segoe UI"/>
                <a:cs typeface="Segoe UI"/>
              </a:rPr>
              <a:t>3 design partners</a:t>
            </a:r>
          </a:p>
        </p:txBody>
      </p:sp>
      <p:sp>
        <p:nvSpPr>
          <p:cNvPr id="7" name="">
            <a:extLst xmlns:a="http://schemas.openxmlformats.org/drawingml/2006/main">
              <a:ext uri="{FF2B5EF4-FFF2-40B4-BE49-F238E27FC236}">
                <a16:creationId xmlns:a16="http://schemas.microsoft.com/office/drawing/2014/main" id="{A4DF7036-C0C2-4796-BD10-A8908370D089}"/>
              </a:ext>
            </a:extLst>
          </p:cNvPr>
          <p:cNvSpPr>
            <a:spLocks xmlns:a="http://schemas.openxmlformats.org/drawingml/2006/main" noGrp="1"/>
          </p:cNvSpPr>
          <p:nvPr/>
        </p:nvSpPr>
        <p:spPr>
          <a:xfrm xmlns:a="http://schemas.openxmlformats.org/drawingml/2006/main">
            <a:off x="647700" y="4095750"/>
            <a:ext cx="10001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627568"/>
                </a:solidFill>
                <a:latin typeface="Segoe UI"/>
                <a:ea typeface="Segoe UI"/>
                <a:cs typeface="Segoe UI"/>
              </a:defRPr>
            </a:defPPr>
          </a:lstStyle>
          <a:p xmlns:a="http://schemas.openxmlformats.org/drawingml/2006/main">
            <a:pPr>
              <a:defRPr sz="2400" b="0">
                <a:solidFill>
                  <a:srgbClr val="627568"/>
                </a:solidFill>
                <a:latin typeface="Segoe UI"/>
                <a:ea typeface="Segoe UI"/>
                <a:cs typeface="Segoe UI"/>
              </a:defRPr>
            </a:pPr>
            <a:r>
              <a:rPr sz="2400" b="0">
                <a:solidFill>
                  <a:srgbClr val="627568"/>
                </a:solidFill>
                <a:latin typeface="Segoe UI"/>
                <a:ea typeface="Segoe UI"/>
                <a:cs typeface="Segoe UI"/>
              </a:rPr>
              <a:t>One repeatable onboarding process.</a:t>
            </a:r>
          </a:p>
          <a:p xmlns:a="http://schemas.openxmlformats.org/drawingml/2006/main">
            <a:pPr>
              <a:defRPr sz="2400" b="0">
                <a:solidFill>
                  <a:srgbClr val="627568"/>
                </a:solidFill>
                <a:latin typeface="Segoe UI"/>
                <a:ea typeface="Segoe UI"/>
                <a:cs typeface="Segoe UI"/>
              </a:defRPr>
            </a:pPr>
            <a:r>
              <a:rPr sz="2400" b="0">
                <a:solidFill>
                  <a:srgbClr val="627568"/>
                </a:solidFill>
                <a:latin typeface="Segoe UI"/>
                <a:ea typeface="Segoe UI"/>
                <a:cs typeface="Segoe UI"/>
              </a:rPr>
              <a:t>A measured comparison of coordinator effort.</a:t>
            </a:r>
          </a:p>
          <a:p xmlns:a="http://schemas.openxmlformats.org/drawingml/2006/main">
            <a:pPr>
              <a:defRPr sz="2400" b="0">
                <a:solidFill>
                  <a:srgbClr val="627568"/>
                </a:solidFill>
                <a:latin typeface="Segoe UI"/>
                <a:ea typeface="Segoe UI"/>
                <a:cs typeface="Segoe UI"/>
              </a:defRPr>
            </a:pPr>
            <a:r>
              <a:rPr sz="2400" b="0">
                <a:solidFill>
                  <a:srgbClr val="627568"/>
                </a:solidFill>
                <a:latin typeface="Segoe UI"/>
                <a:ea typeface="Segoe UI"/>
                <a:cs typeface="Segoe UI"/>
              </a:rPr>
              <a:t>Evidence of willingness to keep paying.</a:t>
            </a:r>
          </a:p>
        </p:txBody>
      </p:sp>
      <p:sp>
        <p:nvSpPr>
          <p:cNvPr id="8" name="">
            <a:extLst xmlns:a="http://schemas.openxmlformats.org/drawingml/2006/main">
              <a:ext uri="{FF2B5EF4-FFF2-40B4-BE49-F238E27FC236}">
                <a16:creationId xmlns:a16="http://schemas.microsoft.com/office/drawing/2014/main" id="{28071EB4-5593-41BB-8DDA-9C1BFB8B8F37}"/>
              </a:ext>
            </a:extLst>
          </p:cNvPr>
          <p:cNvSpPr>
            <a:spLocks xmlns:a="http://schemas.openxmlformats.org/drawingml/2006/main" noGrp="1"/>
          </p:cNvSpPr>
          <p:nvPr/>
        </p:nvSpPr>
        <p:spPr>
          <a:xfrm xmlns:a="http://schemas.openxmlformats.org/drawingml/2006/main">
            <a:off x="647700" y="58102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73F35"/>
                </a:solidFill>
                <a:latin typeface="Segoe UI"/>
                <a:ea typeface="Segoe UI"/>
                <a:cs typeface="Segoe UI"/>
              </a:defRPr>
            </a:defPPr>
          </a:lstStyle>
          <a:p xmlns:a="http://schemas.openxmlformats.org/drawingml/2006/main">
            <a:pPr>
              <a:defRPr sz="1650" b="1">
                <a:solidFill>
                  <a:srgbClr val="173F35"/>
                </a:solidFill>
                <a:latin typeface="Segoe UI"/>
                <a:ea typeface="Segoe UI"/>
                <a:cs typeface="Segoe UI"/>
              </a:defRPr>
            </a:pPr>
            <a:r>
              <a:rPr sz="1650" b="1">
                <a:solidFill>
                  <a:srgbClr val="173F35"/>
                </a:solidFill>
                <a:latin typeface="Segoe UI"/>
                <a:ea typeface="Segoe UI"/>
                <a:cs typeface="Segoe UI"/>
              </a:rPr>
              <a:t>Seeking pilot introductions and workflow feedback</a:t>
            </a:r>
          </a:p>
        </p:txBody>
      </p:sp>
    </p:spTree>
    <p:extLst>
      <p:ext uri="{BB962C8B-B14F-4D97-AF65-F5344CB8AC3E}">
        <p14:creationId xmlns:p14="http://schemas.microsoft.com/office/powerpoint/2010/main" val="1907408390"/>
      </p:ext>
    </p:extLst>
  </p:cSld>
</p:sld>
</file>

<file path=ppt/slides/slide16.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CCC3C0-8837-4AD7-8D46-BC270B29A89B}"/>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BC62CEA8-6FF1-4D75-8FE3-FB25B79957AC}"/>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15 / SCAN TEST</a:t>
            </a:r>
          </a:p>
        </p:txBody>
      </p:sp>
      <p:sp>
        <p:nvSpPr>
          <p:cNvPr id="3" name="">
            <a:extLst xmlns:a="http://schemas.openxmlformats.org/drawingml/2006/main">
              <a:ext uri="{FF2B5EF4-FFF2-40B4-BE49-F238E27FC236}">
                <a16:creationId xmlns:a16="http://schemas.microsoft.com/office/drawing/2014/main" id="{EE805E85-3A32-456C-94C3-97E8EAC948FD}"/>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A sample label you can scan</a:t>
            </a:r>
          </a:p>
        </p:txBody>
      </p:sp>
      <p:sp>
        <p:nvSpPr>
          <p:cNvPr id="4" name="">
            <a:extLst xmlns:a="http://schemas.openxmlformats.org/drawingml/2006/main">
              <a:ext uri="{FF2B5EF4-FFF2-40B4-BE49-F238E27FC236}">
                <a16:creationId xmlns:a16="http://schemas.microsoft.com/office/drawing/2014/main" id="{8A9FF8CB-0811-4ADC-BB6C-38D3734539DC}"/>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5A101D06-D11C-4BD3-9DEF-BFC3AAC42C8C}"/>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16</a:t>
            </a:r>
          </a:p>
        </p:txBody>
      </p:sp>
      <p:pic>
        <p:nvPicPr>
          <p:cNvPr id="6" name="">
            <a:extLst xmlns:a="http://schemas.openxmlformats.org/drawingml/2006/main">
              <a:ext uri="{FF2B5EF4-FFF2-40B4-BE49-F238E27FC236}">
                <a16:creationId xmlns:a16="http://schemas.microsoft.com/office/drawing/2014/main" id="{40C19C28-A301-4454-9D45-91EFC5EF6255}"/>
              </a:ext>
            </a:extLst>
          </p:cNvPr>
          <p:cNvPicPr>
            <a:picLocks xmlns:a="http://schemas.openxmlformats.org/drawingml/2006/main" noChangeAspect="1"/>
          </p:cNvPicPr>
          <p:nvPr/>
        </p:nvPicPr>
        <p:blipFill>
          <a:blip xmlns:r="http://schemas.openxmlformats.org/officeDocument/2006/relationships" xmlns:a="http://schemas.openxmlformats.org/drawingml/2006/main" r:embed="Re952d533dca049d8"/>
          <a:stretch xmlns:a="http://schemas.openxmlformats.org/drawingml/2006/main"/>
        </p:blipFill>
        <p:spPr>
          <a:xfrm xmlns:a="http://schemas.openxmlformats.org/drawingml/2006/main">
            <a:off x="609600" y="2526290"/>
            <a:ext cx="7048500" cy="269124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F0C37FA-8503-4176-BDFF-5AE1AFB634B4}"/>
              </a:ext>
            </a:extLst>
          </p:cNvPr>
          <p:cNvSpPr>
            <a:spLocks xmlns:a="http://schemas.openxmlformats.org/drawingml/2006/main" noGrp="1"/>
          </p:cNvSpPr>
          <p:nvPr/>
        </p:nvSpPr>
        <p:spPr>
          <a:xfrm xmlns:a="http://schemas.openxmlformats.org/drawingml/2006/main">
            <a:off x="8229600" y="2800350"/>
            <a:ext cx="309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F35"/>
                </a:solidFill>
                <a:latin typeface="Segoe UI"/>
                <a:ea typeface="Segoe UI"/>
                <a:cs typeface="Segoe UI"/>
              </a:defRPr>
            </a:defPPr>
          </a:lstStyle>
          <a:p xmlns:a="http://schemas.openxmlformats.org/drawingml/2006/main">
            <a:pPr>
              <a:defRPr sz="2250" b="1">
                <a:solidFill>
                  <a:srgbClr val="173F35"/>
                </a:solidFill>
                <a:latin typeface="Segoe UI"/>
                <a:ea typeface="Segoe UI"/>
                <a:cs typeface="Segoe UI"/>
              </a:defRPr>
            </a:pPr>
            <a:r>
              <a:rPr sz="2250" b="1">
                <a:solidFill>
                  <a:srgbClr val="173F35"/>
                </a:solidFill>
                <a:latin typeface="Segoe UI"/>
                <a:ea typeface="Segoe UI"/>
                <a:cs typeface="Segoe UI"/>
              </a:rPr>
              <a:t>Expected result</a:t>
            </a:r>
          </a:p>
        </p:txBody>
      </p:sp>
      <p:sp>
        <p:nvSpPr>
          <p:cNvPr id="8" name="">
            <a:extLst xmlns:a="http://schemas.openxmlformats.org/drawingml/2006/main">
              <a:ext uri="{FF2B5EF4-FFF2-40B4-BE49-F238E27FC236}">
                <a16:creationId xmlns:a16="http://schemas.microsoft.com/office/drawing/2014/main" id="{5F91CE29-A2EC-4987-9309-30E06FB201D6}"/>
              </a:ext>
            </a:extLst>
          </p:cNvPr>
          <p:cNvSpPr>
            <a:spLocks xmlns:a="http://schemas.openxmlformats.org/drawingml/2006/main" noGrp="1"/>
          </p:cNvSpPr>
          <p:nvPr/>
        </p:nvSpPr>
        <p:spPr>
          <a:xfrm xmlns:a="http://schemas.openxmlformats.org/drawingml/2006/main">
            <a:off x="8229600" y="3400425"/>
            <a:ext cx="309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F35"/>
                </a:solidFill>
                <a:latin typeface="Segoe UI"/>
                <a:ea typeface="Segoe UI"/>
                <a:cs typeface="Segoe UI"/>
              </a:defRPr>
            </a:defPPr>
          </a:lstStyle>
          <a:p xmlns:a="http://schemas.openxmlformats.org/drawingml/2006/main">
            <a:pPr>
              <a:defRPr sz="1950" b="0">
                <a:solidFill>
                  <a:srgbClr val="173F35"/>
                </a:solidFill>
                <a:latin typeface="Segoe UI"/>
                <a:ea typeface="Segoe UI"/>
                <a:cs typeface="Segoe UI"/>
              </a:defRPr>
            </a:pPr>
            <a:r>
              <a:rPr sz="1950" b="0">
                <a:solidFill>
                  <a:srgbClr val="173F35"/>
                </a:solidFill>
                <a:latin typeface="Segoe UI"/>
                <a:ea typeface="Segoe UI"/>
                <a:cs typeface="Segoe UI"/>
              </a:rPr>
              <a:t>MODEL</a:t>
            </a:r>
          </a:p>
          <a:p xmlns:a="http://schemas.openxmlformats.org/drawingml/2006/main">
            <a:pPr>
              <a:defRPr sz="1950" b="0">
                <a:solidFill>
                  <a:srgbClr val="173F35"/>
                </a:solidFill>
                <a:latin typeface="Segoe UI"/>
                <a:ea typeface="Segoe UI"/>
                <a:cs typeface="Segoe UI"/>
              </a:defRPr>
            </a:pPr>
            <a:r>
              <a:rPr sz="1950" b="0">
                <a:solidFill>
                  <a:srgbClr val="173F35"/>
                </a:solidFill>
                <a:latin typeface="Segoe UI"/>
                <a:ea typeface="Segoe UI"/>
                <a:cs typeface="Segoe UI"/>
              </a:rPr>
              <a:t>ABC12345</a:t>
            </a:r>
          </a:p>
          <a:p xmlns:a="http://schemas.openxmlformats.org/drawingml/2006/main">
            <a:r>
              <a:t/>
            </a:r>
          </a:p>
          <a:p xmlns:a="http://schemas.openxmlformats.org/drawingml/2006/main">
            <a:pPr>
              <a:defRPr sz="1950" b="0">
                <a:solidFill>
                  <a:srgbClr val="173F35"/>
                </a:solidFill>
                <a:latin typeface="Segoe UI"/>
                <a:ea typeface="Segoe UI"/>
                <a:cs typeface="Segoe UI"/>
              </a:defRPr>
            </a:pPr>
            <a:r>
              <a:rPr sz="1950" b="0">
                <a:solidFill>
                  <a:srgbClr val="173F35"/>
                </a:solidFill>
                <a:latin typeface="Segoe UI"/>
                <a:ea typeface="Segoe UI"/>
                <a:cs typeface="Segoe UI"/>
              </a:rPr>
              <a:t>SERIAL</a:t>
            </a:r>
          </a:p>
          <a:p xmlns:a="http://schemas.openxmlformats.org/drawingml/2006/main">
            <a:pPr>
              <a:defRPr sz="1950" b="0">
                <a:solidFill>
                  <a:srgbClr val="173F35"/>
                </a:solidFill>
                <a:latin typeface="Segoe UI"/>
                <a:ea typeface="Segoe UI"/>
                <a:cs typeface="Segoe UI"/>
              </a:defRPr>
            </a:pPr>
            <a:r>
              <a:rPr sz="1950" b="0">
                <a:solidFill>
                  <a:srgbClr val="173F35"/>
                </a:solidFill>
                <a:latin typeface="Segoe UI"/>
                <a:ea typeface="Segoe UI"/>
                <a:cs typeface="Segoe UI"/>
              </a:rPr>
              <a:t>98765432</a:t>
            </a:r>
          </a:p>
        </p:txBody>
      </p:sp>
      <p:sp>
        <p:nvSpPr>
          <p:cNvPr id="9" name="">
            <a:extLst xmlns:a="http://schemas.openxmlformats.org/drawingml/2006/main">
              <a:ext uri="{FF2B5EF4-FFF2-40B4-BE49-F238E27FC236}">
                <a16:creationId xmlns:a16="http://schemas.microsoft.com/office/drawing/2014/main" id="{2259D7FC-4276-4F97-87A9-A2C3D19A1F70}"/>
              </a:ext>
            </a:extLst>
          </p:cNvPr>
          <p:cNvSpPr>
            <a:spLocks xmlns:a="http://schemas.openxmlformats.org/drawingml/2006/main" noGrp="1"/>
          </p:cNvSpPr>
          <p:nvPr/>
        </p:nvSpPr>
        <p:spPr>
          <a:xfrm xmlns:a="http://schemas.openxmlformats.org/drawingml/2006/main">
            <a:off x="609600" y="5438775"/>
            <a:ext cx="1085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568"/>
                </a:solidFill>
                <a:latin typeface="Segoe UI"/>
                <a:ea typeface="Segoe UI"/>
                <a:cs typeface="Segoe UI"/>
              </a:defRPr>
            </a:defPPr>
          </a:lstStyle>
          <a:p xmlns:a="http://schemas.openxmlformats.org/drawingml/2006/main">
            <a:pPr>
              <a:defRPr sz="1650" b="0">
                <a:solidFill>
                  <a:srgbClr val="627568"/>
                </a:solidFill>
                <a:latin typeface="Segoe UI"/>
                <a:ea typeface="Segoe UI"/>
                <a:cs typeface="Segoe UI"/>
              </a:defRPr>
            </a:pPr>
            <a:r>
              <a:rPr sz="1650" b="0">
                <a:solidFill>
                  <a:srgbClr val="627568"/>
                </a:solidFill>
                <a:latin typeface="Segoe UI"/>
                <a:ea typeface="Segoe UI"/>
                <a:cs typeface="Segoe UI"/>
              </a:rPr>
              <a:t>Show this slide on another screen or print it. Open the live scanner on your phone,</a:t>
            </a:r>
          </a:p>
          <a:p xmlns:a="http://schemas.openxmlformats.org/drawingml/2006/main">
            <a:pPr>
              <a:defRPr sz="1650" b="0">
                <a:solidFill>
                  <a:srgbClr val="627568"/>
                </a:solidFill>
                <a:latin typeface="Segoe UI"/>
                <a:ea typeface="Segoe UI"/>
                <a:cs typeface="Segoe UI"/>
              </a:defRPr>
            </a:pPr>
            <a:r>
              <a:rPr sz="1650" b="0">
                <a:solidFill>
                  <a:srgbClr val="627568"/>
                </a:solidFill>
                <a:latin typeface="Segoe UI"/>
                <a:ea typeface="Segoe UI"/>
                <a:cs typeface="Segoe UI"/>
              </a:rPr>
              <a:t>allow camera access and capture just the label. You can also upload the label PNG.</a:t>
            </a:r>
          </a:p>
        </p:txBody>
      </p:sp>
      <p:sp>
        <p:nvSpPr>
          <p:cNvPr id="10" name="">
            <a:extLst xmlns:a="http://schemas.openxmlformats.org/drawingml/2006/main">
              <a:ext uri="{FF2B5EF4-FFF2-40B4-BE49-F238E27FC236}">
                <a16:creationId xmlns:a16="http://schemas.microsoft.com/office/drawing/2014/main" id="{7CE4E35A-10D4-46F8-A933-1D8C4B5F9728}"/>
              </a:ext>
            </a:extLst>
          </p:cNvPr>
          <p:cNvSpPr>
            <a:spLocks xmlns:a="http://schemas.openxmlformats.org/drawingml/2006/main" noGrp="1"/>
          </p:cNvSpPr>
          <p:nvPr/>
        </p:nvSpPr>
        <p:spPr>
          <a:xfrm xmlns:a="http://schemas.openxmlformats.org/drawingml/2006/main">
            <a:off x="609600" y="609600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568"/>
                </a:solidFill>
                <a:latin typeface="Segoe UI"/>
                <a:ea typeface="Segoe UI"/>
                <a:cs typeface="Segoe UI"/>
              </a:defRPr>
            </a:defPPr>
          </a:lstStyle>
          <a:p xmlns:a="http://schemas.openxmlformats.org/drawingml/2006/main">
            <a:pPr>
              <a:defRPr sz="1200" b="0">
                <a:solidFill>
                  <a:srgbClr val="627568"/>
                </a:solidFill>
                <a:latin typeface="Segoe UI"/>
                <a:ea typeface="Segoe UI"/>
                <a:cs typeface="Segoe UI"/>
              </a:defRPr>
            </a:pPr>
            <a:r>
              <a:rPr sz="1200" b="0">
                <a:solidFill>
                  <a:srgbClr val="627568"/>
                </a:solidFill>
                <a:latin typeface="Segoe UI"/>
                <a:ea typeface="Segoe UI"/>
                <a:cs typeface="Segoe UI"/>
              </a:rPr>
              <a:t>Synthetic test data. The landing-page scanner displays identifiers without saving an equipment record.</a:t>
            </a:r>
          </a:p>
        </p:txBody>
      </p:sp>
    </p:spTree>
    <p:extLst>
      <p:ext uri="{BB962C8B-B14F-4D97-AF65-F5344CB8AC3E}">
        <p14:creationId xmlns:p14="http://schemas.microsoft.com/office/powerpoint/2010/main" val="649486488"/>
      </p:ext>
    </p:extLst>
  </p:cSld>
</p:sld>
</file>

<file path=ppt/slides/slide17.xml><?xml version="1.0" encoding="utf-8"?>
<p:sld xmlns:p="http://schemas.openxmlformats.org/presentationml/2006/main">
  <p:cSld>
    <p:bg>
      <p:bgPr>
        <a:solidFill xmlns:a="http://schemas.openxmlformats.org/drawingml/2006/main">
          <a:srgbClr val="F7F7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E9088F-54BF-4E77-9EB5-D7EC47F16F44}"/>
              </a:ext>
            </a:extLst>
          </p:cNvPr>
          <p:cNvSpPr>
            <a:spLocks xmlns:a="http://schemas.openxmlformats.org/drawingml/2006/main" noGrp="1"/>
          </p:cNvSpPr>
          <p:nvPr/>
        </p:nvSpPr>
        <p:spPr>
          <a:xfrm xmlns:a="http://schemas.openxmlformats.org/drawingml/2006/main">
            <a:off x="609600" y="3048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F35"/>
                </a:solidFill>
                <a:latin typeface="Segoe UI"/>
                <a:ea typeface="Segoe UI"/>
                <a:cs typeface="Segoe UI"/>
              </a:defRPr>
            </a:defPPr>
          </a:lstStyle>
          <a:p xmlns:a="http://schemas.openxmlformats.org/drawingml/2006/main">
            <a:pPr>
              <a:defRPr sz="1800" b="1">
                <a:solidFill>
                  <a:srgbClr val="173F35"/>
                </a:solidFill>
                <a:latin typeface="Segoe UI"/>
                <a:ea typeface="Segoe UI"/>
                <a:cs typeface="Segoe UI"/>
              </a:defRPr>
            </a:pPr>
            <a:r>
              <a:rPr sz="1800" b="1">
                <a:solidFill>
                  <a:srgbClr val="173F35"/>
                </a:solidFill>
                <a:latin typeface="Segoe UI"/>
                <a:ea typeface="Segoe UI"/>
                <a:cs typeface="Segoe UI"/>
              </a:rPr>
              <a:t>repair thread</a:t>
            </a:r>
          </a:p>
        </p:txBody>
      </p:sp>
      <p:sp>
        <p:nvSpPr>
          <p:cNvPr id="2" name="">
            <a:extLst xmlns:a="http://schemas.openxmlformats.org/drawingml/2006/main">
              <a:ext uri="{FF2B5EF4-FFF2-40B4-BE49-F238E27FC236}">
                <a16:creationId xmlns:a16="http://schemas.microsoft.com/office/drawing/2014/main" id="{3C60F00B-5D1D-4302-994C-265087297840}"/>
              </a:ext>
            </a:extLst>
          </p:cNvPr>
          <p:cNvSpPr>
            <a:spLocks xmlns:a="http://schemas.openxmlformats.org/drawingml/2006/main" noGrp="1"/>
          </p:cNvSpPr>
          <p:nvPr/>
        </p:nvSpPr>
        <p:spPr>
          <a:xfrm xmlns:a="http://schemas.openxmlformats.org/drawingml/2006/main">
            <a:off x="609600" y="8953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627568"/>
                </a:solidFill>
                <a:latin typeface="Segoe UI"/>
                <a:ea typeface="Segoe UI"/>
                <a:cs typeface="Segoe UI"/>
              </a:defRPr>
            </a:defPPr>
          </a:lstStyle>
          <a:p xmlns:a="http://schemas.openxmlformats.org/drawingml/2006/main">
            <a:pPr>
              <a:defRPr sz="1050" b="1">
                <a:solidFill>
                  <a:srgbClr val="627568"/>
                </a:solidFill>
                <a:latin typeface="Segoe UI"/>
                <a:ea typeface="Segoe UI"/>
                <a:cs typeface="Segoe UI"/>
              </a:defRPr>
            </a:pPr>
            <a:r>
              <a:rPr sz="1050" b="1">
                <a:solidFill>
                  <a:srgbClr val="627568"/>
                </a:solidFill>
                <a:latin typeface="Segoe UI"/>
                <a:ea typeface="Segoe UI"/>
                <a:cs typeface="Segoe UI"/>
              </a:rPr>
              <a:t>16 / LIVE WALKTHROUGH</a:t>
            </a:r>
          </a:p>
        </p:txBody>
      </p:sp>
      <p:sp>
        <p:nvSpPr>
          <p:cNvPr id="3" name="">
            <a:extLst xmlns:a="http://schemas.openxmlformats.org/drawingml/2006/main">
              <a:ext uri="{FF2B5EF4-FFF2-40B4-BE49-F238E27FC236}">
                <a16:creationId xmlns:a16="http://schemas.microsoft.com/office/drawing/2014/main" id="{3992F4A6-B0D9-4AC7-A21E-2D969469679E}"/>
              </a:ext>
            </a:extLst>
          </p:cNvPr>
          <p:cNvSpPr>
            <a:spLocks xmlns:a="http://schemas.openxmlformats.org/drawingml/2006/main" noGrp="1"/>
          </p:cNvSpPr>
          <p:nvPr/>
        </p:nvSpPr>
        <p:spPr>
          <a:xfrm xmlns:a="http://schemas.openxmlformats.org/drawingml/2006/main">
            <a:off x="609600" y="13525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73F35"/>
                </a:solidFill>
                <a:latin typeface="Segoe UI"/>
                <a:ea typeface="Segoe UI"/>
                <a:cs typeface="Segoe UI"/>
              </a:defRPr>
            </a:defPPr>
          </a:lstStyle>
          <a:p xmlns:a="http://schemas.openxmlformats.org/drawingml/2006/main">
            <a:pPr>
              <a:defRPr sz="3900" b="1">
                <a:solidFill>
                  <a:srgbClr val="173F35"/>
                </a:solidFill>
                <a:latin typeface="Segoe UI"/>
                <a:ea typeface="Segoe UI"/>
                <a:cs typeface="Segoe UI"/>
              </a:defRPr>
            </a:pPr>
            <a:r>
              <a:rPr sz="3900" b="1">
                <a:solidFill>
                  <a:srgbClr val="173F35"/>
                </a:solidFill>
                <a:latin typeface="Segoe UI"/>
                <a:ea typeface="Segoe UI"/>
                <a:cs typeface="Segoe UI"/>
              </a:rPr>
              <a:t>Try the product story</a:t>
            </a:r>
          </a:p>
        </p:txBody>
      </p:sp>
      <p:sp>
        <p:nvSpPr>
          <p:cNvPr id="4" name="">
            <a:extLst xmlns:a="http://schemas.openxmlformats.org/drawingml/2006/main">
              <a:ext uri="{FF2B5EF4-FFF2-40B4-BE49-F238E27FC236}">
                <a16:creationId xmlns:a16="http://schemas.microsoft.com/office/drawing/2014/main" id="{5D4392AF-9800-484F-AE4C-BF4BB390C8DB}"/>
              </a:ext>
            </a:extLst>
          </p:cNvPr>
          <p:cNvSpPr>
            <a:spLocks xmlns:a="http://schemas.openxmlformats.org/drawingml/2006/main" noGrp="1"/>
          </p:cNvSpPr>
          <p:nvPr/>
        </p:nvSpPr>
        <p:spPr>
          <a:xfrm xmlns:a="http://schemas.openxmlformats.org/drawingml/2006/main">
            <a:off x="609600" y="6391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REPAIR THREAD  /  COMPUTER VISION HACKATHON</a:t>
            </a:r>
          </a:p>
        </p:txBody>
      </p:sp>
      <p:sp>
        <p:nvSpPr>
          <p:cNvPr id="5" name="">
            <a:extLst xmlns:a="http://schemas.openxmlformats.org/drawingml/2006/main">
              <a:ext uri="{FF2B5EF4-FFF2-40B4-BE49-F238E27FC236}">
                <a16:creationId xmlns:a16="http://schemas.microsoft.com/office/drawing/2014/main" id="{0BCECFDE-C9EF-4423-9C7A-B17F75B74549}"/>
              </a:ext>
            </a:extLst>
          </p:cNvPr>
          <p:cNvSpPr>
            <a:spLocks xmlns:a="http://schemas.openxmlformats.org/drawingml/2006/main" noGrp="1"/>
          </p:cNvSpPr>
          <p:nvPr/>
        </p:nvSpPr>
        <p:spPr>
          <a:xfrm xmlns:a="http://schemas.openxmlformats.org/drawingml/2006/main">
            <a:off x="11144250" y="63912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27568"/>
                </a:solidFill>
                <a:latin typeface="Segoe UI"/>
                <a:ea typeface="Segoe UI"/>
                <a:cs typeface="Segoe UI"/>
              </a:defRPr>
            </a:defPPr>
          </a:lstStyle>
          <a:p xmlns:a="http://schemas.openxmlformats.org/drawingml/2006/main">
            <a:pPr>
              <a:defRPr sz="900" b="0">
                <a:solidFill>
                  <a:srgbClr val="627568"/>
                </a:solidFill>
                <a:latin typeface="Segoe UI"/>
                <a:ea typeface="Segoe UI"/>
                <a:cs typeface="Segoe UI"/>
              </a:defRPr>
            </a:pPr>
            <a:r>
              <a:rPr sz="900" b="0">
                <a:solidFill>
                  <a:srgbClr val="627568"/>
                </a:solidFill>
                <a:latin typeface="Segoe UI"/>
                <a:ea typeface="Segoe UI"/>
                <a:cs typeface="Segoe UI"/>
              </a:rPr>
              <a:t>17</a:t>
            </a:r>
          </a:p>
        </p:txBody>
      </p:sp>
      <p:sp>
        <p:nvSpPr>
          <p:cNvPr id="6" name="">
            <a:extLst xmlns:a="http://schemas.openxmlformats.org/drawingml/2006/main">
              <a:ext uri="{FF2B5EF4-FFF2-40B4-BE49-F238E27FC236}">
                <a16:creationId xmlns:a16="http://schemas.microsoft.com/office/drawing/2014/main" id="{142ED813-5248-459D-89CF-FEC16B0D02B7}"/>
              </a:ext>
            </a:extLst>
          </p:cNvPr>
          <p:cNvSpPr>
            <a:spLocks xmlns:a="http://schemas.openxmlformats.org/drawingml/2006/main" noGrp="1"/>
          </p:cNvSpPr>
          <p:nvPr/>
        </p:nvSpPr>
        <p:spPr>
          <a:xfrm xmlns:a="http://schemas.openxmlformats.org/drawingml/2006/main">
            <a:off x="609600" y="2762250"/>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3F35"/>
                </a:solidFill>
                <a:latin typeface="Segoe UI"/>
                <a:ea typeface="Segoe UI"/>
                <a:cs typeface="Segoe UI"/>
              </a:defRPr>
            </a:defPPr>
          </a:lstStyle>
          <a:p xmlns:a="http://schemas.openxmlformats.org/drawingml/2006/main">
            <a:pPr>
              <a:defRPr sz="2700" b="1">
                <a:solidFill>
                  <a:srgbClr val="173F35"/>
                </a:solidFill>
                <a:latin typeface="Segoe UI"/>
                <a:ea typeface="Segoe UI"/>
                <a:cs typeface="Segoe UI"/>
              </a:defRPr>
            </a:pPr>
            <a:r>
              <a:rPr sz="2700" b="1">
                <a:solidFill>
                  <a:srgbClr val="173F35"/>
                </a:solidFill>
                <a:latin typeface="Segoe UI"/>
                <a:ea typeface="Segoe UI"/>
                <a:cs typeface="Segoe UI"/>
              </a:rPr>
              <a:t>Phone demo</a:t>
            </a:r>
          </a:p>
        </p:txBody>
      </p:sp>
      <p:sp>
        <p:nvSpPr>
          <p:cNvPr id="7" name="">
            <a:extLst xmlns:a="http://schemas.openxmlformats.org/drawingml/2006/main">
              <a:ext uri="{FF2B5EF4-FFF2-40B4-BE49-F238E27FC236}">
                <a16:creationId xmlns:a16="http://schemas.microsoft.com/office/drawing/2014/main" id="{6AAC5FD5-88D8-49C4-AA2B-59A7B788E316}"/>
              </a:ext>
            </a:extLst>
          </p:cNvPr>
          <p:cNvSpPr>
            <a:spLocks xmlns:a="http://schemas.openxmlformats.org/drawingml/2006/main" noGrp="1"/>
          </p:cNvSpPr>
          <p:nvPr/>
        </p:nvSpPr>
        <p:spPr>
          <a:xfrm xmlns:a="http://schemas.openxmlformats.org/drawingml/2006/main">
            <a:off x="609600" y="3381375"/>
            <a:ext cx="6953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627568"/>
                </a:solidFill>
                <a:latin typeface="Segoe UI"/>
                <a:ea typeface="Segoe UI"/>
                <a:cs typeface="Segoe UI"/>
              </a:defRPr>
            </a:defPPr>
          </a:lstStyle>
          <a:p xmlns:a="http://schemas.openxmlformats.org/drawingml/2006/main">
            <a:pPr>
              <a:defRPr sz="2325" b="0">
                <a:solidFill>
                  <a:srgbClr val="627568"/>
                </a:solidFill>
                <a:latin typeface="Segoe UI"/>
                <a:ea typeface="Segoe UI"/>
                <a:cs typeface="Segoe UI"/>
              </a:defRPr>
            </a:pPr>
            <a:r>
              <a:rPr sz="2325" b="0">
                <a:solidFill>
                  <a:srgbClr val="627568"/>
                </a:solidFill>
                <a:latin typeface="Segoe UI"/>
                <a:ea typeface="Segoe UI"/>
                <a:cs typeface="Segoe UI"/>
              </a:rPr>
              <a:t>Open repair-thread.vercel.app</a:t>
            </a:r>
          </a:p>
          <a:p xmlns:a="http://schemas.openxmlformats.org/drawingml/2006/main">
            <a:pPr>
              <a:defRPr sz="2325" b="0">
                <a:solidFill>
                  <a:srgbClr val="627568"/>
                </a:solidFill>
                <a:latin typeface="Segoe UI"/>
                <a:ea typeface="Segoe UI"/>
                <a:cs typeface="Segoe UI"/>
              </a:defRPr>
            </a:pPr>
            <a:r>
              <a:rPr sz="2325" b="0">
                <a:solidFill>
                  <a:srgbClr val="627568"/>
                </a:solidFill>
                <a:latin typeface="Segoe UI"/>
                <a:ea typeface="Segoe UI"/>
                <a:cs typeface="Segoe UI"/>
              </a:rPr>
              <a:t>and choose “Phone walkthrough”.</a:t>
            </a:r>
          </a:p>
        </p:txBody>
      </p:sp>
      <p:sp>
        <p:nvSpPr>
          <p:cNvPr id="8" name="">
            <a:extLst xmlns:a="http://schemas.openxmlformats.org/drawingml/2006/main">
              <a:ext uri="{FF2B5EF4-FFF2-40B4-BE49-F238E27FC236}">
                <a16:creationId xmlns:a16="http://schemas.microsoft.com/office/drawing/2014/main" id="{AB9ECEB5-772B-4953-96B8-847F99A3FD1F}"/>
              </a:ext>
            </a:extLst>
          </p:cNvPr>
          <p:cNvSpPr>
            <a:spLocks xmlns:a="http://schemas.openxmlformats.org/drawingml/2006/main" noGrp="1"/>
          </p:cNvSpPr>
          <p:nvPr/>
        </p:nvSpPr>
        <p:spPr>
          <a:xfrm xmlns:a="http://schemas.openxmlformats.org/drawingml/2006/main">
            <a:off x="609600" y="4657725"/>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F35"/>
                </a:solidFill>
                <a:latin typeface="Segoe UI"/>
                <a:ea typeface="Segoe UI"/>
                <a:cs typeface="Segoe UI"/>
              </a:defRPr>
            </a:defPPr>
          </a:lstStyle>
          <a:p xmlns:a="http://schemas.openxmlformats.org/drawingml/2006/main">
            <a:pPr>
              <a:defRPr sz="2325" b="1">
                <a:solidFill>
                  <a:srgbClr val="173F35"/>
                </a:solidFill>
                <a:latin typeface="Segoe UI"/>
                <a:ea typeface="Segoe UI"/>
                <a:cs typeface="Segoe UI"/>
              </a:defRPr>
            </a:pPr>
            <a:r>
              <a:rPr sz="2325" b="1">
                <a:solidFill>
                  <a:srgbClr val="173F35"/>
                </a:solidFill>
                <a:latin typeface="Segoe UI"/>
                <a:ea typeface="Segoe UI"/>
                <a:cs typeface="Segoe UI"/>
              </a:rPr>
              <a:t>Real computer vision</a:t>
            </a:r>
          </a:p>
        </p:txBody>
      </p:sp>
      <p:sp>
        <p:nvSpPr>
          <p:cNvPr id="9" name="">
            <a:extLst xmlns:a="http://schemas.openxmlformats.org/drawingml/2006/main">
              <a:ext uri="{FF2B5EF4-FFF2-40B4-BE49-F238E27FC236}">
                <a16:creationId xmlns:a16="http://schemas.microsoft.com/office/drawing/2014/main" id="{EEE58080-58EE-468E-9A86-EA28C249DA9F}"/>
              </a:ext>
            </a:extLst>
          </p:cNvPr>
          <p:cNvSpPr>
            <a:spLocks xmlns:a="http://schemas.openxmlformats.org/drawingml/2006/main" noGrp="1"/>
          </p:cNvSpPr>
          <p:nvPr/>
        </p:nvSpPr>
        <p:spPr>
          <a:xfrm xmlns:a="http://schemas.openxmlformats.org/drawingml/2006/main">
            <a:off x="609600" y="52197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27568"/>
                </a:solidFill>
                <a:latin typeface="Segoe UI"/>
                <a:ea typeface="Segoe UI"/>
                <a:cs typeface="Segoe UI"/>
              </a:defRPr>
            </a:defPPr>
          </a:lstStyle>
          <a:p xmlns:a="http://schemas.openxmlformats.org/drawingml/2006/main">
            <a:pPr>
              <a:defRPr sz="2025" b="0">
                <a:solidFill>
                  <a:srgbClr val="627568"/>
                </a:solidFill>
                <a:latin typeface="Segoe UI"/>
                <a:ea typeface="Segoe UI"/>
                <a:cs typeface="Segoe UI"/>
              </a:defRPr>
            </a:pPr>
            <a:r>
              <a:rPr sz="2025" b="0">
                <a:solidFill>
                  <a:srgbClr val="627568"/>
                </a:solidFill>
                <a:latin typeface="Segoe UI"/>
                <a:ea typeface="Segoe UI"/>
                <a:cs typeface="Segoe UI"/>
              </a:rPr>
              <a:t>Choose “Try the live scanner”.</a:t>
            </a:r>
          </a:p>
          <a:p xmlns:a="http://schemas.openxmlformats.org/drawingml/2006/main">
            <a:pPr>
              <a:defRPr sz="2025" b="0">
                <a:solidFill>
                  <a:srgbClr val="627568"/>
                </a:solidFill>
                <a:latin typeface="Segoe UI"/>
                <a:ea typeface="Segoe UI"/>
                <a:cs typeface="Segoe UI"/>
              </a:defRPr>
            </a:pPr>
            <a:r>
              <a:rPr sz="2025" b="0">
                <a:solidFill>
                  <a:srgbClr val="627568"/>
                </a:solidFill>
                <a:latin typeface="Segoe UI"/>
                <a:ea typeface="Segoe UI"/>
                <a:cs typeface="Segoe UI"/>
              </a:rPr>
              <a:t>Use a label photo or the built-in sample.</a:t>
            </a:r>
          </a:p>
        </p:txBody>
      </p:sp>
      <p:pic>
        <p:nvPicPr>
          <p:cNvPr id="10" name="">
            <a:extLst xmlns:a="http://schemas.openxmlformats.org/drawingml/2006/main">
              <a:ext uri="{FF2B5EF4-FFF2-40B4-BE49-F238E27FC236}">
                <a16:creationId xmlns:a16="http://schemas.microsoft.com/office/drawing/2014/main" id="{15C5A892-4730-41BB-A3E9-E012502F4A15}"/>
              </a:ext>
            </a:extLst>
          </p:cNvPr>
          <p:cNvPicPr>
            <a:picLocks xmlns:a="http://schemas.openxmlformats.org/drawingml/2006/main" noChangeAspect="1"/>
          </p:cNvPicPr>
          <p:nvPr/>
        </p:nvPicPr>
        <p:blipFill>
          <a:blip xmlns:r="http://schemas.openxmlformats.org/officeDocument/2006/relationships" xmlns:a="http://schemas.openxmlformats.org/drawingml/2006/main" r:embed="R987a75313cb64b5b"/>
          <a:stretch xmlns:a="http://schemas.openxmlformats.org/drawingml/2006/main"/>
        </p:blipFill>
        <p:spPr>
          <a:xfrm xmlns:a="http://schemas.openxmlformats.org/drawingml/2006/main">
            <a:off x="8505825" y="1058716"/>
            <a:ext cx="2362200" cy="5112043"/>
          </a:xfrm>
          <a:prstGeom xmlns:a="http://schemas.openxmlformats.org/drawingml/2006/main" prst="rect">
            <a:avLst/>
          </a:prstGeom>
        </p:spPr>
      </p:pic>
    </p:spTree>
    <p:extLst>
      <p:ext uri="{BB962C8B-B14F-4D97-AF65-F5344CB8AC3E}">
        <p14:creationId xmlns:p14="http://schemas.microsoft.com/office/powerpoint/2010/main" val="279998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2026-10-11T21:01:25.1930000Z</dcterms:created>
  <dcterms:modified xsi:type="dcterms:W3CDTF">2026-10-11T21:01:25.1930000Z</dcterms:modified>
</coreProperties>
</file>